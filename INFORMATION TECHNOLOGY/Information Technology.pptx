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26-Jul-26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microsoft.com/en-ca/microsoft-365/wor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ibm.com/docs/en/zos-basic-skills?topic=zos-what-is-database-management-system" TargetMode="External"/><Relationship Id="rId2" Type="http://schemas.openxmlformats.org/officeDocument/2006/relationships/hyperlink" Target="https://www.ninjaone.com/rmm/it-operations-management-softwar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ninjaone.com/backup/cloud-backup/" TargetMode="External"/><Relationship Id="rId2" Type="http://schemas.openxmlformats.org/officeDocument/2006/relationships/hyperlink" Target="https://www.ninjaone.com/blog/data-backup-and-recovery-explained/" TargetMode="External"/><Relationship Id="rId1" Type="http://schemas.openxmlformats.org/officeDocument/2006/relationships/slideLayout" Target="../slideLayouts/slideLayout2.xml"/><Relationship Id="rId6" Type="http://schemas.openxmlformats.org/officeDocument/2006/relationships/hyperlink" Target="https://www.ninjaone.com/rmm/it-asset-management/" TargetMode="External"/><Relationship Id="rId5" Type="http://schemas.openxmlformats.org/officeDocument/2006/relationships/hyperlink" Target="https://www.ninjaone.com/blog/what-is-mobile-device-management-mdm/" TargetMode="External"/><Relationship Id="rId4" Type="http://schemas.openxmlformats.org/officeDocument/2006/relationships/hyperlink" Target="https://www.ninjaone.com/it-hub/endpoint-management/what-is-virtualization-definition-overview/"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Information Technology</a:t>
            </a:r>
            <a:br>
              <a:rPr lang="en-US" dirty="0" smtClean="0"/>
            </a:br>
            <a:endParaRPr lang="en-US" dirty="0"/>
          </a:p>
        </p:txBody>
      </p:sp>
      <p:sp>
        <p:nvSpPr>
          <p:cNvPr id="3" name="Subtitle 2"/>
          <p:cNvSpPr>
            <a:spLocks noGrp="1"/>
          </p:cNvSpPr>
          <p:nvPr>
            <p:ph type="subTitle" idx="1"/>
          </p:nvPr>
        </p:nvSpPr>
        <p:spPr/>
        <p:txBody>
          <a:bodyPr>
            <a:normAutofit lnSpcReduction="10000"/>
          </a:bodyPr>
          <a:lstStyle/>
          <a:p>
            <a:r>
              <a:rPr lang="en-US" b="1" dirty="0" smtClean="0">
                <a:solidFill>
                  <a:schemeClr val="accent1">
                    <a:lumMod val="75000"/>
                  </a:schemeClr>
                </a:solidFill>
              </a:rPr>
              <a:t>Name: SOUTIRNA SENGUPTA</a:t>
            </a:r>
          </a:p>
          <a:p>
            <a:r>
              <a:rPr lang="en-US" b="1" dirty="0" smtClean="0">
                <a:solidFill>
                  <a:schemeClr val="accent1">
                    <a:lumMod val="75000"/>
                  </a:schemeClr>
                </a:solidFill>
              </a:rPr>
              <a:t>Student Code: </a:t>
            </a:r>
            <a:r>
              <a:rPr lang="en-US" b="1" dirty="0" smtClean="0">
                <a:solidFill>
                  <a:schemeClr val="accent1">
                    <a:lumMod val="75000"/>
                  </a:schemeClr>
                </a:solidFill>
              </a:rPr>
              <a:t>AF05217482</a:t>
            </a:r>
          </a:p>
          <a:p>
            <a:r>
              <a:rPr lang="en-US" b="1" dirty="0" smtClean="0">
                <a:solidFill>
                  <a:schemeClr val="accent1">
                    <a:lumMod val="75000"/>
                  </a:schemeClr>
                </a:solidFill>
              </a:rPr>
              <a:t>Batch no. : WBDBS ANP-D6155</a:t>
            </a:r>
            <a:endParaRPr lang="en-US" b="1" dirty="0">
              <a:solidFill>
                <a:schemeClr val="accent1">
                  <a:lumMod val="75000"/>
                </a:schemeClr>
              </a:solidFill>
            </a:endParaRPr>
          </a:p>
        </p:txBody>
      </p:sp>
    </p:spTree>
    <p:extLst>
      <p:ext uri="{BB962C8B-B14F-4D97-AF65-F5344CB8AC3E}">
        <p14:creationId xmlns:p14="http://schemas.microsoft.com/office/powerpoint/2010/main" val="8703152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3290" y="166910"/>
            <a:ext cx="8911687" cy="1280890"/>
          </a:xfrm>
        </p:spPr>
        <p:txBody>
          <a:bodyPr/>
          <a:lstStyle/>
          <a:p>
            <a:r>
              <a:rPr lang="en-US" dirty="0" smtClean="0"/>
              <a:t>INTRODUCTION TO IT AND BUSINESS SYSTEMS</a:t>
            </a:r>
            <a:endParaRPr lang="en-US" dirty="0"/>
          </a:p>
        </p:txBody>
      </p:sp>
      <p:sp>
        <p:nvSpPr>
          <p:cNvPr id="3" name="Content Placeholder 2"/>
          <p:cNvSpPr>
            <a:spLocks noGrp="1"/>
          </p:cNvSpPr>
          <p:nvPr>
            <p:ph idx="1"/>
          </p:nvPr>
        </p:nvSpPr>
        <p:spPr>
          <a:xfrm>
            <a:off x="2249576" y="1447799"/>
            <a:ext cx="9611497" cy="5122817"/>
          </a:xfrm>
        </p:spPr>
        <p:txBody>
          <a:bodyPr>
            <a:normAutofit lnSpcReduction="10000"/>
          </a:bodyPr>
          <a:lstStyle/>
          <a:p>
            <a:pPr>
              <a:buFont typeface="Wingdings" panose="05000000000000000000" pitchFamily="2" charset="2"/>
              <a:buChar char="q"/>
            </a:pPr>
            <a:r>
              <a:rPr lang="en-US" i="1" dirty="0" smtClean="0"/>
              <a:t>Fundamentals of Information Technology</a:t>
            </a:r>
          </a:p>
          <a:p>
            <a:pPr>
              <a:buFont typeface="Wingdings" panose="05000000000000000000" pitchFamily="2" charset="2"/>
              <a:buChar char="Ø"/>
            </a:pPr>
            <a:r>
              <a:rPr lang="en-US" dirty="0"/>
              <a:t>IT Powers Modern Business: Information Technology uses hardware, software, and networks to support communication, security, data management, and digital transformation in organizations.</a:t>
            </a:r>
          </a:p>
          <a:p>
            <a:pPr>
              <a:buFont typeface="Wingdings" panose="05000000000000000000" pitchFamily="2" charset="2"/>
              <a:buChar char="Ø"/>
            </a:pPr>
            <a:r>
              <a:rPr lang="en-US" dirty="0" smtClean="0"/>
              <a:t>IT </a:t>
            </a:r>
            <a:r>
              <a:rPr lang="en-US" dirty="0"/>
              <a:t>infrastructure relies on physical components like CPUs and RAM, and software </a:t>
            </a:r>
            <a:r>
              <a:rPr lang="en-US" dirty="0" smtClean="0"/>
              <a:t>layers </a:t>
            </a:r>
            <a:r>
              <a:rPr lang="en-US" dirty="0"/>
              <a:t>including operating systems, applications, and security utilities</a:t>
            </a:r>
            <a:r>
              <a:rPr lang="en-US" dirty="0" smtClean="0"/>
              <a:t>.</a:t>
            </a:r>
          </a:p>
          <a:p>
            <a:pPr>
              <a:buFont typeface="Wingdings" panose="05000000000000000000" pitchFamily="2" charset="2"/>
              <a:buChar char="Ø"/>
            </a:pPr>
            <a:r>
              <a:rPr lang="en-US" dirty="0"/>
              <a:t>Key IT roles include cybersecurity, data backup, device and network management, virtualization, software troubleshooting, and operational automation</a:t>
            </a:r>
            <a:r>
              <a:rPr lang="en-US" dirty="0" smtClean="0"/>
              <a:t>.</a:t>
            </a:r>
          </a:p>
          <a:p>
            <a:pPr>
              <a:buFont typeface="Wingdings" panose="05000000000000000000" pitchFamily="2" charset="2"/>
              <a:buChar char="Ø"/>
            </a:pPr>
            <a:r>
              <a:rPr lang="en-US" dirty="0"/>
              <a:t>IT enhances productivity, protects data, enables remote access, and drives digital innovation—making it critical for organizational success</a:t>
            </a:r>
            <a:r>
              <a:rPr lang="en-US" dirty="0" smtClean="0"/>
              <a:t>.</a:t>
            </a:r>
          </a:p>
          <a:p>
            <a:pPr>
              <a:buFont typeface="Wingdings" panose="05000000000000000000" pitchFamily="2" charset="2"/>
              <a:buChar char="Ø"/>
            </a:pPr>
            <a:r>
              <a:rPr lang="en-US" dirty="0"/>
              <a:t>Simply defined, Information Technology (IT) is the use of computers and related technology, such as software, cloud-based applications, and networks to communicate or transmit data, build organizational infrastructure, and secure information</a:t>
            </a:r>
            <a:r>
              <a:rPr lang="en-US" dirty="0" smtClean="0"/>
              <a:t>.</a:t>
            </a:r>
          </a:p>
          <a:p>
            <a:pPr>
              <a:buFont typeface="Wingdings" panose="05000000000000000000" pitchFamily="2" charset="2"/>
              <a:buChar char="Ø"/>
            </a:pPr>
            <a:r>
              <a:rPr lang="en-US" dirty="0"/>
              <a:t>IT is an essential part of most business operations, and when executed well, it improves productivity, efficiency, and innovation.</a:t>
            </a:r>
          </a:p>
        </p:txBody>
      </p:sp>
    </p:spTree>
    <p:extLst>
      <p:ext uri="{BB962C8B-B14F-4D97-AF65-F5344CB8AC3E}">
        <p14:creationId xmlns:p14="http://schemas.microsoft.com/office/powerpoint/2010/main" val="29348533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2592925" y="578391"/>
            <a:ext cx="8911687" cy="45719"/>
          </a:xfrm>
        </p:spPr>
        <p:txBody>
          <a:bodyPr>
            <a:normAutofit fontScale="90000"/>
          </a:bodyPr>
          <a:lstStyle/>
          <a:p>
            <a:endParaRPr lang="en-US" dirty="0"/>
          </a:p>
        </p:txBody>
      </p:sp>
      <p:sp>
        <p:nvSpPr>
          <p:cNvPr id="3" name="Content Placeholder 2"/>
          <p:cNvSpPr>
            <a:spLocks noGrp="1"/>
          </p:cNvSpPr>
          <p:nvPr>
            <p:ph idx="1"/>
          </p:nvPr>
        </p:nvSpPr>
        <p:spPr>
          <a:xfrm>
            <a:off x="1750423" y="362852"/>
            <a:ext cx="9754189" cy="6338393"/>
          </a:xfrm>
        </p:spPr>
        <p:txBody>
          <a:bodyPr/>
          <a:lstStyle/>
          <a:p>
            <a:pPr>
              <a:buFont typeface="Wingdings" panose="05000000000000000000" pitchFamily="2" charset="2"/>
              <a:buChar char="Ø"/>
            </a:pPr>
            <a:r>
              <a:rPr lang="en-US" b="1" dirty="0" smtClean="0"/>
              <a:t>Hardware VS Software</a:t>
            </a:r>
            <a:r>
              <a:rPr lang="en-US" dirty="0" smtClean="0"/>
              <a:t>: </a:t>
            </a:r>
            <a:r>
              <a:rPr lang="en-US" dirty="0"/>
              <a:t>Hardware refers to the devices that individuals use, and software refers to the programs run on the hardware. For example, an application like </a:t>
            </a:r>
            <a:r>
              <a:rPr lang="en-US" dirty="0">
                <a:hlinkClick r:id="rId2"/>
              </a:rPr>
              <a:t>Microsoft Word</a:t>
            </a:r>
            <a:r>
              <a:rPr lang="en-US" dirty="0"/>
              <a:t> is a piece of software that is typically run on a device like a Windows PC that contains hardware like a central processing unit, motherboard, or hard drive</a:t>
            </a:r>
            <a:r>
              <a:rPr lang="en-US" dirty="0" smtClean="0"/>
              <a:t>.</a:t>
            </a:r>
          </a:p>
          <a:p>
            <a:pPr>
              <a:buFont typeface="Wingdings" panose="05000000000000000000" pitchFamily="2" charset="2"/>
              <a:buChar char="Ø"/>
            </a:pPr>
            <a:r>
              <a:rPr lang="en-US" dirty="0"/>
              <a:t>There are several hardware components that you should be familiar with to understand </a:t>
            </a:r>
            <a:r>
              <a:rPr lang="en-US" dirty="0" smtClean="0"/>
              <a:t>IT, i.e. CPU (Central Processing Unit), Hard Drive, Random Access Memory, Motherboard.</a:t>
            </a:r>
          </a:p>
          <a:p>
            <a:pPr>
              <a:buFont typeface="Wingdings" panose="05000000000000000000" pitchFamily="2" charset="2"/>
              <a:buChar char="Ø"/>
            </a:pPr>
            <a:r>
              <a:rPr lang="en-US" dirty="0"/>
              <a:t>Software is also needed for IT. The most common types work together with the hardware components to facilitate productivity and efficiency</a:t>
            </a:r>
            <a:r>
              <a:rPr lang="en-US" dirty="0" smtClean="0"/>
              <a:t>.</a:t>
            </a:r>
          </a:p>
          <a:p>
            <a:r>
              <a:rPr lang="en-US" dirty="0" smtClean="0"/>
              <a:t> </a:t>
            </a:r>
            <a:r>
              <a:rPr lang="en-US" b="1" dirty="0"/>
              <a:t>System software: </a:t>
            </a:r>
            <a:r>
              <a:rPr lang="en-US" dirty="0"/>
              <a:t>This refers to the operating system of a machine, which is stored on the hard drive and moved to the RAM when needed to function. The operating system is then able to run programs (application software) by sending instructions to the CPU</a:t>
            </a:r>
            <a:r>
              <a:rPr lang="en-US" dirty="0" smtClean="0"/>
              <a:t>.</a:t>
            </a:r>
          </a:p>
          <a:p>
            <a:r>
              <a:rPr lang="en-US" b="1" dirty="0"/>
              <a:t>Application software: </a:t>
            </a:r>
            <a:r>
              <a:rPr lang="en-US" dirty="0"/>
              <a:t>Most of what you do throughout the day happens in an application. Word processors, spreadsheets, web browsers, and any other application that you use is considered application software. </a:t>
            </a:r>
            <a:endParaRPr lang="en-US" dirty="0" smtClean="0"/>
          </a:p>
          <a:p>
            <a:r>
              <a:rPr lang="en-US" b="1" dirty="0"/>
              <a:t>Utility software: </a:t>
            </a:r>
            <a:r>
              <a:rPr lang="en-US" dirty="0"/>
              <a:t>This is background software, such as anti-virus or other security programs. It also includes optimization and disk cleanup software. Utility tools run on the hard drive and are generally not especially noticeable to the user.</a:t>
            </a:r>
            <a:endParaRPr lang="en-US" dirty="0" smtClean="0"/>
          </a:p>
          <a:p>
            <a:pPr marL="0" indent="0">
              <a:buNone/>
            </a:pPr>
            <a:endParaRPr lang="en-US" dirty="0"/>
          </a:p>
        </p:txBody>
      </p:sp>
    </p:spTree>
    <p:extLst>
      <p:ext uri="{BB962C8B-B14F-4D97-AF65-F5344CB8AC3E}">
        <p14:creationId xmlns:p14="http://schemas.microsoft.com/office/powerpoint/2010/main" val="30642939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H="1">
            <a:off x="2547206" y="624110"/>
            <a:ext cx="45719" cy="45719"/>
          </a:xfrm>
        </p:spPr>
        <p:txBody>
          <a:bodyPr>
            <a:normAutofit fontScale="90000"/>
          </a:bodyPr>
          <a:lstStyle/>
          <a:p>
            <a:endParaRPr lang="en-US" dirty="0"/>
          </a:p>
        </p:txBody>
      </p:sp>
      <p:sp>
        <p:nvSpPr>
          <p:cNvPr id="3" name="Content Placeholder 2"/>
          <p:cNvSpPr>
            <a:spLocks noGrp="1"/>
          </p:cNvSpPr>
          <p:nvPr>
            <p:ph idx="1"/>
          </p:nvPr>
        </p:nvSpPr>
        <p:spPr>
          <a:xfrm>
            <a:off x="1713999" y="428166"/>
            <a:ext cx="9885817" cy="6220828"/>
          </a:xfrm>
        </p:spPr>
        <p:txBody>
          <a:bodyPr/>
          <a:lstStyle/>
          <a:p>
            <a:pPr>
              <a:buFont typeface="Wingdings" panose="05000000000000000000" pitchFamily="2" charset="2"/>
              <a:buChar char="Ø"/>
            </a:pPr>
            <a:r>
              <a:rPr lang="en-US" b="1" dirty="0" smtClean="0"/>
              <a:t>Core functions of Information Technology: </a:t>
            </a:r>
            <a:r>
              <a:rPr lang="en-US" dirty="0"/>
              <a:t>Within organizations, IT performs a large number of functions that are becoming increasingly essential for business continuity and market competitiveness</a:t>
            </a:r>
            <a:r>
              <a:rPr lang="en-US" dirty="0" smtClean="0"/>
              <a:t>.</a:t>
            </a:r>
          </a:p>
          <a:p>
            <a:pPr>
              <a:buFont typeface="Wingdings" panose="05000000000000000000" pitchFamily="2" charset="2"/>
              <a:buChar char="v"/>
            </a:pPr>
            <a:r>
              <a:rPr lang="en-US" i="1" u="sng" dirty="0" smtClean="0"/>
              <a:t>IT Governance</a:t>
            </a:r>
            <a:r>
              <a:rPr lang="en-US" dirty="0" smtClean="0"/>
              <a:t>: </a:t>
            </a:r>
            <a:r>
              <a:rPr lang="en-US" dirty="0"/>
              <a:t>IT governance focuses on aligning organizational goals with IT</a:t>
            </a:r>
            <a:r>
              <a:rPr lang="en-US" dirty="0" smtClean="0"/>
              <a:t>. </a:t>
            </a:r>
            <a:r>
              <a:rPr lang="en-US" dirty="0"/>
              <a:t>C</a:t>
            </a:r>
            <a:r>
              <a:rPr lang="en-US" dirty="0" smtClean="0"/>
              <a:t>areful </a:t>
            </a:r>
            <a:r>
              <a:rPr lang="en-US" dirty="0"/>
              <a:t>budgeting and resource allocation are important for aligning with company objectives</a:t>
            </a:r>
            <a:r>
              <a:rPr lang="en-US" dirty="0" smtClean="0"/>
              <a:t>.</a:t>
            </a:r>
          </a:p>
          <a:p>
            <a:pPr>
              <a:buFont typeface="Wingdings" panose="05000000000000000000" pitchFamily="2" charset="2"/>
              <a:buChar char="v"/>
            </a:pPr>
            <a:r>
              <a:rPr lang="en-US" i="1" u="sng" dirty="0" smtClean="0"/>
              <a:t>IT Operations</a:t>
            </a:r>
            <a:r>
              <a:rPr lang="en-US" dirty="0" smtClean="0"/>
              <a:t>: </a:t>
            </a:r>
            <a:r>
              <a:rPr lang="en-US" dirty="0"/>
              <a:t>Many IT professionals have found that their daily operations, being frequently basic and sometimes tedious, can be delegated to </a:t>
            </a:r>
            <a:r>
              <a:rPr lang="en-US" dirty="0">
                <a:hlinkClick r:id="rId2"/>
              </a:rPr>
              <a:t>IT Operations Management (ITOM)</a:t>
            </a:r>
            <a:r>
              <a:rPr lang="en-US" dirty="0"/>
              <a:t>. This is a solution that helps automate many aspects of IT operations, including key processes such as monitoring endpoints for problems, monitoring the network, tracking events or incidents, and securing devices</a:t>
            </a:r>
            <a:r>
              <a:rPr lang="en-US" dirty="0" smtClean="0"/>
              <a:t>.</a:t>
            </a:r>
          </a:p>
          <a:p>
            <a:pPr>
              <a:buFont typeface="Wingdings" panose="05000000000000000000" pitchFamily="2" charset="2"/>
              <a:buChar char="v"/>
            </a:pPr>
            <a:r>
              <a:rPr lang="en-US" i="1" u="sng" dirty="0" smtClean="0"/>
              <a:t>Cybersecurity</a:t>
            </a:r>
            <a:r>
              <a:rPr lang="en-US" dirty="0" smtClean="0"/>
              <a:t>: </a:t>
            </a:r>
            <a:r>
              <a:rPr lang="en-US" dirty="0"/>
              <a:t>Cybersecurity measures contribute to securing organizations’ data and networks from threats and vulnerabilities, and this is an essential part of the IT professional’s role</a:t>
            </a:r>
            <a:r>
              <a:rPr lang="en-US" dirty="0" smtClean="0"/>
              <a:t>.</a:t>
            </a:r>
          </a:p>
          <a:p>
            <a:pPr>
              <a:buFont typeface="Wingdings" panose="05000000000000000000" pitchFamily="2" charset="2"/>
              <a:buChar char="v"/>
            </a:pPr>
            <a:r>
              <a:rPr lang="en-US" i="1" u="sng" dirty="0" smtClean="0"/>
              <a:t>Data security &amp; Database management</a:t>
            </a:r>
            <a:r>
              <a:rPr lang="en-US" dirty="0" smtClean="0"/>
              <a:t>: </a:t>
            </a:r>
            <a:r>
              <a:rPr lang="en-US" dirty="0"/>
              <a:t>Data storage is a favored target of attackers as the data can be sold or ransomed for considerable amounts of money</a:t>
            </a:r>
            <a:r>
              <a:rPr lang="en-US" dirty="0" smtClean="0"/>
              <a:t>. </a:t>
            </a:r>
            <a:r>
              <a:rPr lang="en-US" dirty="0"/>
              <a:t>Aside from patches, updates, and other aforementioned protective measures, </a:t>
            </a:r>
            <a:r>
              <a:rPr lang="en-US" dirty="0">
                <a:hlinkClick r:id="rId3"/>
              </a:rPr>
              <a:t>Database Management Systems (DBMS)</a:t>
            </a:r>
            <a:r>
              <a:rPr lang="en-US" dirty="0"/>
              <a:t> can help with visibility and control</a:t>
            </a:r>
            <a:r>
              <a:rPr lang="en-US" dirty="0" smtClean="0"/>
              <a:t>. </a:t>
            </a:r>
            <a:r>
              <a:rPr lang="en-US" dirty="0"/>
              <a:t>In IT, catching a problem as early as possible is far better than catching it later.</a:t>
            </a:r>
          </a:p>
        </p:txBody>
      </p:sp>
    </p:spTree>
    <p:extLst>
      <p:ext uri="{BB962C8B-B14F-4D97-AF65-F5344CB8AC3E}">
        <p14:creationId xmlns:p14="http://schemas.microsoft.com/office/powerpoint/2010/main" val="32567125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H="1">
            <a:off x="2547206" y="624110"/>
            <a:ext cx="45719" cy="45719"/>
          </a:xfrm>
        </p:spPr>
        <p:txBody>
          <a:bodyPr>
            <a:normAutofit fontScale="90000"/>
          </a:bodyPr>
          <a:lstStyle/>
          <a:p>
            <a:endParaRPr lang="en-US" dirty="0"/>
          </a:p>
        </p:txBody>
      </p:sp>
      <p:sp>
        <p:nvSpPr>
          <p:cNvPr id="3" name="Content Placeholder 2"/>
          <p:cNvSpPr>
            <a:spLocks noGrp="1"/>
          </p:cNvSpPr>
          <p:nvPr>
            <p:ph idx="1"/>
          </p:nvPr>
        </p:nvSpPr>
        <p:spPr>
          <a:xfrm>
            <a:off x="2053636" y="265611"/>
            <a:ext cx="9428616" cy="6422572"/>
          </a:xfrm>
        </p:spPr>
        <p:txBody>
          <a:bodyPr/>
          <a:lstStyle/>
          <a:p>
            <a:pPr>
              <a:buFont typeface="Wingdings" panose="05000000000000000000" pitchFamily="2" charset="2"/>
              <a:buChar char="Ø"/>
            </a:pPr>
            <a:r>
              <a:rPr lang="en-US" b="1" dirty="0" smtClean="0"/>
              <a:t>Data backup &amp; Recovery: </a:t>
            </a:r>
            <a:r>
              <a:rPr lang="en-US" dirty="0"/>
              <a:t>To protect against ransomware or natural disasters, most organizations use </a:t>
            </a:r>
            <a:r>
              <a:rPr lang="en-US" dirty="0">
                <a:hlinkClick r:id="rId2"/>
              </a:rPr>
              <a:t>data backups</a:t>
            </a:r>
            <a:r>
              <a:rPr lang="en-US" dirty="0" smtClean="0"/>
              <a:t>. </a:t>
            </a:r>
            <a:r>
              <a:rPr lang="en-US" dirty="0"/>
              <a:t>These backups are a critical component of disaster recovery strategies, so the important thing for an IT service provider is to ensure that client backups are running regularly and that the content is usable when downloaded</a:t>
            </a:r>
            <a:r>
              <a:rPr lang="en-US" dirty="0" smtClean="0"/>
              <a:t>. </a:t>
            </a:r>
            <a:r>
              <a:rPr lang="en-US" dirty="0"/>
              <a:t>Some have implemented </a:t>
            </a:r>
            <a:r>
              <a:rPr lang="en-US" dirty="0">
                <a:hlinkClick r:id="rId3"/>
              </a:rPr>
              <a:t>cloud-based backups</a:t>
            </a:r>
            <a:r>
              <a:rPr lang="en-US" dirty="0"/>
              <a:t> and file storage only while others prefer a local backup or hybrid model</a:t>
            </a:r>
            <a:r>
              <a:rPr lang="en-US" dirty="0" smtClean="0"/>
              <a:t>.</a:t>
            </a:r>
          </a:p>
          <a:p>
            <a:pPr>
              <a:buFont typeface="Wingdings" panose="05000000000000000000" pitchFamily="2" charset="2"/>
              <a:buChar char="v"/>
            </a:pPr>
            <a:r>
              <a:rPr lang="en-US" i="1" u="sng" dirty="0" smtClean="0"/>
              <a:t>Network Management</a:t>
            </a:r>
            <a:r>
              <a:rPr lang="en-US" dirty="0" smtClean="0"/>
              <a:t>: It</a:t>
            </a:r>
            <a:r>
              <a:rPr lang="en-US" dirty="0"/>
              <a:t> is important for boosting security, and it’s necessary for any connected device to follow network security protocols so that the device does not become </a:t>
            </a:r>
            <a:r>
              <a:rPr lang="en-US" dirty="0" err="1"/>
              <a:t>reinfected</a:t>
            </a:r>
            <a:r>
              <a:rPr lang="en-US" dirty="0" smtClean="0"/>
              <a:t>. </a:t>
            </a:r>
            <a:r>
              <a:rPr lang="en-US" dirty="0"/>
              <a:t>Network management can also include employee performance monitoring</a:t>
            </a:r>
            <a:r>
              <a:rPr lang="en-US" dirty="0" smtClean="0"/>
              <a:t>.</a:t>
            </a:r>
          </a:p>
          <a:p>
            <a:pPr>
              <a:buFont typeface="Wingdings" panose="05000000000000000000" pitchFamily="2" charset="2"/>
              <a:buChar char="v"/>
            </a:pPr>
            <a:r>
              <a:rPr lang="en-US" i="1" u="sng" dirty="0" smtClean="0"/>
              <a:t>Virtualization</a:t>
            </a:r>
            <a:r>
              <a:rPr lang="en-US" dirty="0" smtClean="0"/>
              <a:t>: </a:t>
            </a:r>
            <a:r>
              <a:rPr lang="en-US" dirty="0"/>
              <a:t>To improve flexibility, many machines offer </a:t>
            </a:r>
            <a:r>
              <a:rPr lang="en-US" dirty="0">
                <a:hlinkClick r:id="rId4"/>
              </a:rPr>
              <a:t>virtualization</a:t>
            </a:r>
            <a:r>
              <a:rPr lang="en-US" dirty="0"/>
              <a:t>, which is software that can run programs and do other activities like a typical machine</a:t>
            </a:r>
            <a:r>
              <a:rPr lang="en-US" dirty="0" smtClean="0"/>
              <a:t>. </a:t>
            </a:r>
            <a:r>
              <a:rPr lang="en-US" dirty="0"/>
              <a:t>Virtualization means that multiple operating systems can be stored on one machine, which reduces the number of servers that need to be purchased and maintained</a:t>
            </a:r>
            <a:r>
              <a:rPr lang="en-US" dirty="0" smtClean="0"/>
              <a:t>.</a:t>
            </a:r>
          </a:p>
          <a:p>
            <a:pPr>
              <a:buFont typeface="Wingdings" panose="05000000000000000000" pitchFamily="2" charset="2"/>
              <a:buChar char="v"/>
            </a:pPr>
            <a:r>
              <a:rPr lang="en-US" i="1" u="sng" dirty="0" smtClean="0"/>
              <a:t>Device Management</a:t>
            </a:r>
            <a:r>
              <a:rPr lang="en-US" dirty="0" smtClean="0"/>
              <a:t>: </a:t>
            </a:r>
            <a:r>
              <a:rPr lang="en-US" dirty="0"/>
              <a:t>Finally, do not underestimate the power of effective device management and </a:t>
            </a:r>
            <a:r>
              <a:rPr lang="en-US" u="sng" dirty="0">
                <a:hlinkClick r:id="rId5"/>
              </a:rPr>
              <a:t>mobile device management (MDM</a:t>
            </a:r>
            <a:r>
              <a:rPr lang="en-US" u="sng" dirty="0" smtClean="0">
                <a:hlinkClick r:id="rId5"/>
              </a:rPr>
              <a:t>)</a:t>
            </a:r>
            <a:r>
              <a:rPr lang="en-US" u="sng" dirty="0" smtClean="0"/>
              <a:t>. </a:t>
            </a:r>
            <a:r>
              <a:rPr lang="en-US"/>
              <a:t>Some IT professionals use </a:t>
            </a:r>
            <a:r>
              <a:rPr lang="en-US">
                <a:hlinkClick r:id="rId6"/>
              </a:rPr>
              <a:t>IT Asset Management (ITAM)</a:t>
            </a:r>
            <a:r>
              <a:rPr lang="en-US"/>
              <a:t> to effectively monitor active devices and their status in the lifecycle.</a:t>
            </a:r>
            <a:endParaRPr lang="en-US" i="1" u="sng" dirty="0"/>
          </a:p>
        </p:txBody>
      </p:sp>
    </p:spTree>
    <p:extLst>
      <p:ext uri="{BB962C8B-B14F-4D97-AF65-F5344CB8AC3E}">
        <p14:creationId xmlns:p14="http://schemas.microsoft.com/office/powerpoint/2010/main" val="30126400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H="1" flipV="1">
            <a:off x="2547199" y="692328"/>
            <a:ext cx="45719" cy="45719"/>
          </a:xfrm>
        </p:spPr>
        <p:txBody>
          <a:bodyPr>
            <a:normAutofit fontScale="90000"/>
          </a:bodyPr>
          <a:lstStyle/>
          <a:p>
            <a:endParaRPr lang="en-US" dirty="0"/>
          </a:p>
        </p:txBody>
      </p:sp>
      <p:sp>
        <p:nvSpPr>
          <p:cNvPr id="3" name="Content Placeholder 2"/>
          <p:cNvSpPr>
            <a:spLocks noGrp="1"/>
          </p:cNvSpPr>
          <p:nvPr>
            <p:ph idx="1"/>
          </p:nvPr>
        </p:nvSpPr>
        <p:spPr>
          <a:xfrm>
            <a:off x="1805441" y="840376"/>
            <a:ext cx="9846628" cy="6226629"/>
          </a:xfrm>
        </p:spPr>
        <p:txBody>
          <a:bodyPr/>
          <a:lstStyle/>
          <a:p>
            <a:pPr>
              <a:buFont typeface="Wingdings" panose="05000000000000000000" pitchFamily="2" charset="2"/>
              <a:buChar char="q"/>
            </a:pPr>
            <a:r>
              <a:rPr lang="en-US" i="1" dirty="0" smtClean="0"/>
              <a:t>Role of IT in Business Operations</a:t>
            </a:r>
            <a:endParaRPr lang="en-US" dirty="0"/>
          </a:p>
          <a:p>
            <a:pPr marL="0" indent="0">
              <a:buNone/>
            </a:pPr>
            <a:r>
              <a:rPr lang="en-US" dirty="0"/>
              <a:t>Information technology (IT) </a:t>
            </a:r>
            <a:r>
              <a:rPr lang="en-US" dirty="0"/>
              <a:t>acts as the core engine for daily workflow, data management, and strategic growth. Its primary functions are automating routine tasks, enabling secure communication, and driving data-driven decisions</a:t>
            </a:r>
            <a:r>
              <a:rPr lang="en-US" dirty="0" smtClean="0"/>
              <a:t>.</a:t>
            </a:r>
          </a:p>
          <a:p>
            <a:pPr>
              <a:buFont typeface="Wingdings" panose="05000000000000000000" pitchFamily="2" charset="2"/>
              <a:buChar char="Ø"/>
            </a:pPr>
            <a:r>
              <a:rPr lang="en-US" b="1" dirty="0" smtClean="0"/>
              <a:t>Core functions of IT</a:t>
            </a:r>
            <a:r>
              <a:rPr lang="en-US" dirty="0" smtClean="0"/>
              <a:t>:</a:t>
            </a:r>
          </a:p>
          <a:p>
            <a:pPr>
              <a:buFont typeface="Arial" panose="020B0604020202020204" pitchFamily="34" charset="0"/>
              <a:buChar char="•"/>
            </a:pPr>
            <a:r>
              <a:rPr lang="en-US" i="1" u="sng" dirty="0"/>
              <a:t>Process Automation</a:t>
            </a:r>
            <a:r>
              <a:rPr lang="en-US" b="1" dirty="0"/>
              <a:t>:</a:t>
            </a:r>
            <a:r>
              <a:rPr lang="en-US" dirty="0"/>
              <a:t> Streamlines repetitive tasks, reduces human error, and speeds up production or service delivery</a:t>
            </a:r>
            <a:r>
              <a:rPr lang="en-US" dirty="0" smtClean="0"/>
              <a:t>.</a:t>
            </a:r>
          </a:p>
          <a:p>
            <a:pPr>
              <a:buFont typeface="Arial" panose="020B0604020202020204" pitchFamily="34" charset="0"/>
              <a:buChar char="•"/>
            </a:pPr>
            <a:r>
              <a:rPr lang="en-US" i="1" u="sng" dirty="0"/>
              <a:t>Data Management &amp; Analysis</a:t>
            </a:r>
            <a:r>
              <a:rPr lang="en-US" b="1" dirty="0"/>
              <a:t>:</a:t>
            </a:r>
            <a:r>
              <a:rPr lang="en-US" dirty="0"/>
              <a:t> Stores large amounts of company and customer data safely while using analytics to guide business choices</a:t>
            </a:r>
            <a:r>
              <a:rPr lang="en-US" dirty="0" smtClean="0"/>
              <a:t>.</a:t>
            </a:r>
          </a:p>
          <a:p>
            <a:pPr>
              <a:buFont typeface="Arial" panose="020B0604020202020204" pitchFamily="34" charset="0"/>
              <a:buChar char="•"/>
            </a:pPr>
            <a:r>
              <a:rPr lang="en-US" i="1" u="sng" dirty="0"/>
              <a:t>Communication &amp; Collaboration</a:t>
            </a:r>
            <a:r>
              <a:rPr lang="en-US" b="1" dirty="0"/>
              <a:t>:</a:t>
            </a:r>
            <a:r>
              <a:rPr lang="en-US" dirty="0"/>
              <a:t> Connects remote and in-office teams instantly through messaging apps, video tools, and shared cloud platforms</a:t>
            </a:r>
            <a:r>
              <a:rPr lang="en-US" dirty="0" smtClean="0"/>
              <a:t>.</a:t>
            </a:r>
          </a:p>
          <a:p>
            <a:pPr>
              <a:buFont typeface="Arial" panose="020B0604020202020204" pitchFamily="34" charset="0"/>
              <a:buChar char="•"/>
            </a:pPr>
            <a:r>
              <a:rPr lang="en-US" i="1" u="sng" dirty="0"/>
              <a:t>Security &amp; Risk Control</a:t>
            </a:r>
            <a:r>
              <a:rPr lang="en-US" b="1" dirty="0"/>
              <a:t>:</a:t>
            </a:r>
            <a:r>
              <a:rPr lang="en-US" dirty="0"/>
              <a:t> Protects sensitive company assets and customer privacy from digital threats and system failures.</a:t>
            </a:r>
            <a:endParaRPr lang="en-US" dirty="0" smtClean="0"/>
          </a:p>
          <a:p>
            <a:pPr marL="0" indent="0">
              <a:buNone/>
            </a:pPr>
            <a:endParaRPr lang="en-US" dirty="0" smtClean="0"/>
          </a:p>
        </p:txBody>
      </p:sp>
    </p:spTree>
    <p:extLst>
      <p:ext uri="{BB962C8B-B14F-4D97-AF65-F5344CB8AC3E}">
        <p14:creationId xmlns:p14="http://schemas.microsoft.com/office/powerpoint/2010/main" val="22311335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580605" y="271411"/>
            <a:ext cx="10437223" cy="6273079"/>
          </a:xfrm>
        </p:spPr>
        <p:txBody>
          <a:bodyPr>
            <a:normAutofit lnSpcReduction="10000"/>
          </a:bodyPr>
          <a:lstStyle/>
          <a:p>
            <a:pPr>
              <a:buFont typeface="Wingdings" panose="05000000000000000000" pitchFamily="2" charset="2"/>
              <a:buChar char="q"/>
            </a:pPr>
            <a:r>
              <a:rPr lang="en-US" i="1" dirty="0" smtClean="0"/>
              <a:t>Overview of Business Systems</a:t>
            </a:r>
          </a:p>
          <a:p>
            <a:pPr marL="0" indent="0">
              <a:buNone/>
            </a:pPr>
            <a:r>
              <a:rPr lang="en-US" dirty="0"/>
              <a:t>Business systems act as the central nervous system of an organization, integrating data and automating processes across different departments to maximize </a:t>
            </a:r>
            <a:r>
              <a:rPr lang="en-US" dirty="0" smtClean="0"/>
              <a:t>efficiency.</a:t>
            </a:r>
          </a:p>
          <a:p>
            <a:pPr marL="0" indent="0">
              <a:buNone/>
            </a:pPr>
            <a:r>
              <a:rPr lang="en-US" b="1" i="1" dirty="0"/>
              <a:t>Enterprise Resource Planning (ERP</a:t>
            </a:r>
            <a:r>
              <a:rPr lang="en-US" b="1" i="1" dirty="0" smtClean="0"/>
              <a:t>): </a:t>
            </a:r>
            <a:r>
              <a:rPr lang="en-US" dirty="0"/>
              <a:t>ERP systems integrate all core internal business processes into a single, unified digital platform</a:t>
            </a:r>
            <a:r>
              <a:rPr lang="en-US" dirty="0" smtClean="0"/>
              <a:t>.</a:t>
            </a:r>
          </a:p>
          <a:p>
            <a:pPr>
              <a:buFont typeface="Arial" panose="020B0604020202020204" pitchFamily="34" charset="0"/>
              <a:buChar char="•"/>
            </a:pPr>
            <a:r>
              <a:rPr lang="en-US" b="1" dirty="0"/>
              <a:t>Primary Focus:</a:t>
            </a:r>
            <a:r>
              <a:rPr lang="en-US" dirty="0"/>
              <a:t> Internal operations, back-office efficiency, and resource optimization</a:t>
            </a:r>
            <a:r>
              <a:rPr lang="en-US" dirty="0" smtClean="0"/>
              <a:t>.</a:t>
            </a:r>
          </a:p>
          <a:p>
            <a:pPr>
              <a:buFont typeface="Arial" panose="020B0604020202020204" pitchFamily="34" charset="0"/>
              <a:buChar char="•"/>
            </a:pPr>
            <a:r>
              <a:rPr lang="en-US" b="1" dirty="0"/>
              <a:t>Core Modules:</a:t>
            </a:r>
            <a:r>
              <a:rPr lang="en-US" dirty="0"/>
              <a:t> Finance, human resources, manufacturing, supply chain, and inventory management</a:t>
            </a:r>
            <a:r>
              <a:rPr lang="en-US" dirty="0" smtClean="0"/>
              <a:t>.</a:t>
            </a:r>
          </a:p>
          <a:p>
            <a:pPr>
              <a:buFont typeface="Arial" panose="020B0604020202020204" pitchFamily="34" charset="0"/>
              <a:buChar char="•"/>
            </a:pPr>
            <a:r>
              <a:rPr lang="en-US" b="1" dirty="0"/>
              <a:t>Key Benefits:</a:t>
            </a:r>
            <a:r>
              <a:rPr lang="en-US" dirty="0"/>
              <a:t> Eliminates data silos, ensures real-time inventory tracking, and automates financial reporting</a:t>
            </a:r>
            <a:r>
              <a:rPr lang="en-US" dirty="0" smtClean="0"/>
              <a:t>.</a:t>
            </a:r>
          </a:p>
          <a:p>
            <a:pPr>
              <a:buFont typeface="Arial" panose="020B0604020202020204" pitchFamily="34" charset="0"/>
              <a:buChar char="•"/>
            </a:pPr>
            <a:r>
              <a:rPr lang="en-US" b="1" dirty="0"/>
              <a:t>Common Examples:</a:t>
            </a:r>
            <a:r>
              <a:rPr lang="en-US" dirty="0"/>
              <a:t> SAP S/4HANA, Oracle NetSuite, and Microsoft Dynamics 365</a:t>
            </a:r>
            <a:r>
              <a:rPr lang="en-US" dirty="0" smtClean="0"/>
              <a:t>.</a:t>
            </a:r>
          </a:p>
          <a:p>
            <a:pPr marL="0" indent="0">
              <a:buNone/>
            </a:pPr>
            <a:r>
              <a:rPr lang="en-US" b="1" i="1" dirty="0"/>
              <a:t>Customer Relationship Management (CRM</a:t>
            </a:r>
            <a:r>
              <a:rPr lang="en-US" b="1" i="1" dirty="0" smtClean="0"/>
              <a:t>): </a:t>
            </a:r>
            <a:r>
              <a:rPr lang="en-US" dirty="0"/>
              <a:t>CRM systems manage and analyze all front-office interactions with current and potential </a:t>
            </a:r>
            <a:r>
              <a:rPr lang="en-US" dirty="0" smtClean="0"/>
              <a:t>customers.</a:t>
            </a:r>
          </a:p>
          <a:p>
            <a:pPr>
              <a:buFont typeface="Arial" panose="020B0604020202020204" pitchFamily="34" charset="0"/>
              <a:buChar char="•"/>
            </a:pPr>
            <a:r>
              <a:rPr lang="en-US" b="1" dirty="0"/>
              <a:t>Primary Focus:</a:t>
            </a:r>
            <a:r>
              <a:rPr lang="en-US" dirty="0"/>
              <a:t> External relationships, revenue generation, and customer retention</a:t>
            </a:r>
            <a:r>
              <a:rPr lang="en-US" dirty="0" smtClean="0"/>
              <a:t>.</a:t>
            </a:r>
          </a:p>
          <a:p>
            <a:pPr>
              <a:buFont typeface="Arial" panose="020B0604020202020204" pitchFamily="34" charset="0"/>
              <a:buChar char="•"/>
            </a:pPr>
            <a:r>
              <a:rPr lang="en-US" b="1" dirty="0"/>
              <a:t>Core Modules:</a:t>
            </a:r>
            <a:r>
              <a:rPr lang="en-US" dirty="0"/>
              <a:t> Lead tracking, sales pipeline management, customer support, and marketing automation</a:t>
            </a:r>
            <a:r>
              <a:rPr lang="en-US" dirty="0" smtClean="0"/>
              <a:t>.</a:t>
            </a:r>
          </a:p>
          <a:p>
            <a:pPr>
              <a:buFont typeface="Arial" panose="020B0604020202020204" pitchFamily="34" charset="0"/>
              <a:buChar char="•"/>
            </a:pPr>
            <a:r>
              <a:rPr lang="en-US" b="1" dirty="0"/>
              <a:t>Key Benefits:</a:t>
            </a:r>
            <a:r>
              <a:rPr lang="en-US" dirty="0"/>
              <a:t> Boosts sales conversion rates, personalizes customer service, and tracks marketing ROI</a:t>
            </a:r>
            <a:r>
              <a:rPr lang="en-US" dirty="0" smtClean="0"/>
              <a:t>.</a:t>
            </a:r>
          </a:p>
          <a:p>
            <a:pPr>
              <a:buFont typeface="Arial" panose="020B0604020202020204" pitchFamily="34" charset="0"/>
              <a:buChar char="•"/>
            </a:pPr>
            <a:r>
              <a:rPr lang="en-US" b="1" dirty="0"/>
              <a:t>Common Examples:</a:t>
            </a:r>
            <a:r>
              <a:rPr lang="en-US" dirty="0"/>
              <a:t> Salesforce, </a:t>
            </a:r>
            <a:r>
              <a:rPr lang="en-US" dirty="0" err="1"/>
              <a:t>HubSpot</a:t>
            </a:r>
            <a:r>
              <a:rPr lang="en-US" dirty="0"/>
              <a:t>, and </a:t>
            </a:r>
            <a:r>
              <a:rPr lang="en-US" dirty="0" err="1"/>
              <a:t>Zoho</a:t>
            </a:r>
            <a:r>
              <a:rPr lang="en-US" dirty="0"/>
              <a:t> </a:t>
            </a:r>
            <a:r>
              <a:rPr lang="en-US" dirty="0" smtClean="0"/>
              <a:t>CRM.</a:t>
            </a:r>
          </a:p>
          <a:p>
            <a:pPr marL="0" indent="0">
              <a:buNone/>
            </a:pPr>
            <a:endParaRPr lang="en-US" b="1" i="1" dirty="0" smtClean="0"/>
          </a:p>
          <a:p>
            <a:pPr>
              <a:buFont typeface="Arial" panose="020B0604020202020204" pitchFamily="34" charset="0"/>
              <a:buChar char="•"/>
            </a:pPr>
            <a:endParaRPr lang="en-US" b="1" i="1" dirty="0"/>
          </a:p>
        </p:txBody>
      </p:sp>
    </p:spTree>
    <p:extLst>
      <p:ext uri="{BB962C8B-B14F-4D97-AF65-F5344CB8AC3E}">
        <p14:creationId xmlns:p14="http://schemas.microsoft.com/office/powerpoint/2010/main" val="14710503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988321" y="317862"/>
            <a:ext cx="9768250" cy="6383383"/>
          </a:xfrm>
        </p:spPr>
        <p:txBody>
          <a:bodyPr/>
          <a:lstStyle/>
          <a:p>
            <a:pPr>
              <a:buFont typeface="Wingdings" panose="05000000000000000000" pitchFamily="2" charset="2"/>
              <a:buChar char="q"/>
            </a:pPr>
            <a:r>
              <a:rPr lang="en-US" i="1" dirty="0" smtClean="0"/>
              <a:t>Interplay between IT &amp; Business Strategy</a:t>
            </a:r>
          </a:p>
          <a:p>
            <a:pPr marL="0" indent="0">
              <a:buNone/>
            </a:pPr>
            <a:r>
              <a:rPr lang="en-US" dirty="0"/>
              <a:t>Information technology and business strategy no longer operate separately; they are deeply intertwined, where business goals dictate IT investments, and IT capabilities shape what businesses can achieve</a:t>
            </a:r>
            <a:r>
              <a:rPr lang="en-US" dirty="0" smtClean="0"/>
              <a:t>.</a:t>
            </a:r>
          </a:p>
          <a:p>
            <a:pPr>
              <a:buFont typeface="Wingdings" panose="05000000000000000000" pitchFamily="2" charset="2"/>
              <a:buChar char="v"/>
            </a:pPr>
            <a:r>
              <a:rPr lang="en-US" b="1" dirty="0"/>
              <a:t>IT as a Strategic </a:t>
            </a:r>
            <a:r>
              <a:rPr lang="en-US" b="1" dirty="0" smtClean="0"/>
              <a:t>Enabler: </a:t>
            </a:r>
            <a:r>
              <a:rPr lang="en-US" dirty="0"/>
              <a:t>IT transforms high-level business goals into functional operational realities</a:t>
            </a:r>
            <a:r>
              <a:rPr lang="en-US" dirty="0" smtClean="0"/>
              <a:t>.</a:t>
            </a:r>
          </a:p>
          <a:p>
            <a:pPr>
              <a:buFont typeface="Arial" panose="020B0604020202020204" pitchFamily="34" charset="0"/>
              <a:buChar char="•"/>
            </a:pPr>
            <a:r>
              <a:rPr lang="en-US" b="1" dirty="0"/>
              <a:t>Market Expansion:</a:t>
            </a:r>
            <a:r>
              <a:rPr lang="en-US" dirty="0"/>
              <a:t> Cloud infrastructure allows businesses to scale operations globally without building physical offices</a:t>
            </a:r>
            <a:r>
              <a:rPr lang="en-US" dirty="0" smtClean="0"/>
              <a:t>.</a:t>
            </a:r>
          </a:p>
          <a:p>
            <a:pPr>
              <a:buFont typeface="Arial" panose="020B0604020202020204" pitchFamily="34" charset="0"/>
              <a:buChar char="•"/>
            </a:pPr>
            <a:r>
              <a:rPr lang="en-US" b="1" dirty="0"/>
              <a:t>Cost Leadership:</a:t>
            </a:r>
            <a:r>
              <a:rPr lang="en-US" dirty="0"/>
              <a:t> Automation and AI reduce operational overhead, allowing companies to offer competitive pricing</a:t>
            </a:r>
            <a:r>
              <a:rPr lang="en-US" dirty="0" smtClean="0"/>
              <a:t>.</a:t>
            </a:r>
          </a:p>
          <a:p>
            <a:pPr>
              <a:buFont typeface="Arial" panose="020B0604020202020204" pitchFamily="34" charset="0"/>
              <a:buChar char="•"/>
            </a:pPr>
            <a:r>
              <a:rPr lang="en-US" b="1" dirty="0"/>
              <a:t>Product Differentiation:</a:t>
            </a:r>
            <a:r>
              <a:rPr lang="en-US" dirty="0"/>
              <a:t> Advanced data analytics help businesses design unique, hyper-personalized products for specific customer </a:t>
            </a:r>
            <a:r>
              <a:rPr lang="en-US" dirty="0" smtClean="0"/>
              <a:t>niches.</a:t>
            </a:r>
          </a:p>
          <a:p>
            <a:pPr>
              <a:buFont typeface="Wingdings" panose="05000000000000000000" pitchFamily="2" charset="2"/>
              <a:buChar char="v"/>
            </a:pPr>
            <a:r>
              <a:rPr lang="en-US" b="1" dirty="0"/>
              <a:t>Business Strategy Driving IT </a:t>
            </a:r>
            <a:r>
              <a:rPr lang="en-US" b="1" dirty="0" smtClean="0"/>
              <a:t>Innovation: </a:t>
            </a:r>
            <a:r>
              <a:rPr lang="en-US" dirty="0" smtClean="0"/>
              <a:t>A </a:t>
            </a:r>
            <a:r>
              <a:rPr lang="en-US" dirty="0"/>
              <a:t>company's strategic vision defines the direction and purpose of its technology roadmap</a:t>
            </a:r>
            <a:r>
              <a:rPr lang="en-US" dirty="0" smtClean="0"/>
              <a:t>.</a:t>
            </a:r>
          </a:p>
          <a:p>
            <a:pPr>
              <a:buFont typeface="Arial" panose="020B0604020202020204" pitchFamily="34" charset="0"/>
              <a:buChar char="•"/>
            </a:pPr>
            <a:r>
              <a:rPr lang="en-US" b="1" dirty="0"/>
              <a:t>Customer-Centric Goals:</a:t>
            </a:r>
            <a:r>
              <a:rPr lang="en-US" dirty="0"/>
              <a:t> Strategies focused on user experience force IT to develop seamless mobile apps and secure payment gateways</a:t>
            </a:r>
            <a:r>
              <a:rPr lang="en-US" dirty="0" smtClean="0"/>
              <a:t>.</a:t>
            </a:r>
          </a:p>
          <a:p>
            <a:pPr>
              <a:buFont typeface="Arial" panose="020B0604020202020204" pitchFamily="34" charset="0"/>
              <a:buChar char="•"/>
            </a:pPr>
            <a:r>
              <a:rPr lang="en-US" b="1" dirty="0"/>
              <a:t>Agility Goals:</a:t>
            </a:r>
            <a:r>
              <a:rPr lang="en-US" dirty="0"/>
              <a:t> A strategy aimed at rapid market adaptation drives IT to adopt flexible, modular cloud-based architectures.</a:t>
            </a:r>
            <a:r>
              <a:rPr lang="en-US" b="1" dirty="0" smtClean="0"/>
              <a:t> </a:t>
            </a:r>
            <a:endParaRPr lang="en-US" b="1" dirty="0"/>
          </a:p>
        </p:txBody>
      </p:sp>
    </p:spTree>
    <p:extLst>
      <p:ext uri="{BB962C8B-B14F-4D97-AF65-F5344CB8AC3E}">
        <p14:creationId xmlns:p14="http://schemas.microsoft.com/office/powerpoint/2010/main" val="1254936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2001384" y="291737"/>
            <a:ext cx="9885816" cy="6396446"/>
          </a:xfrm>
        </p:spPr>
        <p:txBody>
          <a:bodyPr/>
          <a:lstStyle/>
          <a:p>
            <a:pPr>
              <a:buFont typeface="Arial" panose="020B0604020202020204" pitchFamily="34" charset="0"/>
              <a:buChar char="•"/>
            </a:pPr>
            <a:r>
              <a:rPr lang="en-US" b="1" dirty="0"/>
              <a:t>Risk Management:</a:t>
            </a:r>
            <a:r>
              <a:rPr lang="en-US" dirty="0"/>
              <a:t> Compliance-focused corporate strategies mandate that IT build robust cybersecurity and data privacy frameworks</a:t>
            </a:r>
            <a:r>
              <a:rPr lang="en-US" dirty="0" smtClean="0"/>
              <a:t>.</a:t>
            </a:r>
          </a:p>
          <a:p>
            <a:pPr>
              <a:buFont typeface="Wingdings" panose="05000000000000000000" pitchFamily="2" charset="2"/>
              <a:buChar char="v"/>
            </a:pPr>
            <a:r>
              <a:rPr lang="en-US" b="1" dirty="0"/>
              <a:t>The Continuous Feedback </a:t>
            </a:r>
            <a:r>
              <a:rPr lang="en-US" b="1" dirty="0" smtClean="0"/>
              <a:t>Loop: </a:t>
            </a:r>
            <a:r>
              <a:rPr lang="en-US" dirty="0"/>
              <a:t>The modern interplay is a cyclical relationship where strategy and technology constantly refine each </a:t>
            </a:r>
            <a:r>
              <a:rPr lang="en-US" dirty="0" smtClean="0"/>
              <a:t>other.</a:t>
            </a:r>
          </a:p>
          <a:p>
            <a:pPr>
              <a:buFont typeface="Arial" panose="020B0604020202020204" pitchFamily="34" charset="0"/>
              <a:buChar char="•"/>
            </a:pPr>
            <a:r>
              <a:rPr lang="en-US" b="1" dirty="0"/>
              <a:t>Data-Driven Pivot:</a:t>
            </a:r>
            <a:r>
              <a:rPr lang="en-US" dirty="0"/>
              <a:t> IT collection of real-time market data allows executives to adjust business strategies dynamically</a:t>
            </a:r>
            <a:r>
              <a:rPr lang="en-US" dirty="0" smtClean="0"/>
              <a:t>.</a:t>
            </a:r>
          </a:p>
          <a:p>
            <a:pPr>
              <a:buFont typeface="Arial" panose="020B0604020202020204" pitchFamily="34" charset="0"/>
              <a:buChar char="•"/>
            </a:pPr>
            <a:r>
              <a:rPr lang="en-US" b="1" dirty="0"/>
              <a:t>Capability Co-creation:</a:t>
            </a:r>
            <a:r>
              <a:rPr lang="en-US" dirty="0"/>
              <a:t> New technology benchmarks (like generative AI) inspire </a:t>
            </a:r>
            <a:r>
              <a:rPr lang="en-US" dirty="0" smtClean="0"/>
              <a:t>executives </a:t>
            </a:r>
            <a:r>
              <a:rPr lang="en-US" dirty="0"/>
              <a:t>to create entirely new business models</a:t>
            </a:r>
            <a:r>
              <a:rPr lang="en-US" dirty="0" smtClean="0"/>
              <a:t>.</a:t>
            </a:r>
          </a:p>
          <a:p>
            <a:pPr marL="0" indent="0">
              <a:buNone/>
            </a:pPr>
            <a:endParaRPr lang="en-US" dirty="0"/>
          </a:p>
          <a:p>
            <a:pPr>
              <a:buFont typeface="Wingdings" panose="05000000000000000000" pitchFamily="2" charset="2"/>
              <a:buChar char="q"/>
            </a:pPr>
            <a:r>
              <a:rPr lang="en-US" i="1" dirty="0" smtClean="0"/>
              <a:t>Understanding Different Data Types</a:t>
            </a:r>
          </a:p>
          <a:p>
            <a:pPr marL="0" indent="0">
              <a:buNone/>
            </a:pPr>
            <a:r>
              <a:rPr lang="en-US" dirty="0"/>
              <a:t>Data is broadly classified into three categories based on its organizational format, ease of analysis, and how it is </a:t>
            </a:r>
            <a:r>
              <a:rPr lang="en-US" dirty="0" smtClean="0"/>
              <a:t>stored.</a:t>
            </a:r>
          </a:p>
          <a:p>
            <a:pPr>
              <a:buFont typeface="Wingdings" panose="05000000000000000000" pitchFamily="2" charset="2"/>
              <a:buChar char="v"/>
            </a:pPr>
            <a:r>
              <a:rPr lang="en-US" b="1" dirty="0"/>
              <a:t>Structured </a:t>
            </a:r>
            <a:r>
              <a:rPr lang="en-US" b="1" dirty="0" smtClean="0"/>
              <a:t>Data: </a:t>
            </a:r>
            <a:r>
              <a:rPr lang="en-US" dirty="0"/>
              <a:t>Structured data is highly organized, quantitative information that fits neatly into fixed fields, columns, and </a:t>
            </a:r>
            <a:r>
              <a:rPr lang="en-US" dirty="0" smtClean="0"/>
              <a:t>rows.</a:t>
            </a:r>
          </a:p>
          <a:p>
            <a:pPr>
              <a:buFont typeface="Arial" panose="020B0604020202020204" pitchFamily="34" charset="0"/>
              <a:buChar char="•"/>
            </a:pPr>
            <a:r>
              <a:rPr lang="en-US" b="1" dirty="0"/>
              <a:t>Format:</a:t>
            </a:r>
            <a:r>
              <a:rPr lang="en-US" dirty="0"/>
              <a:t> Rigid, predefined schemas</a:t>
            </a:r>
            <a:r>
              <a:rPr lang="en-US" dirty="0" smtClean="0"/>
              <a:t>.</a:t>
            </a:r>
          </a:p>
          <a:p>
            <a:pPr>
              <a:buFont typeface="Arial" panose="020B0604020202020204" pitchFamily="34" charset="0"/>
              <a:buChar char="•"/>
            </a:pPr>
            <a:r>
              <a:rPr lang="en-US" b="1" dirty="0"/>
              <a:t>Storage:</a:t>
            </a:r>
            <a:r>
              <a:rPr lang="en-US" dirty="0"/>
              <a:t> Relational Databases (RDBMS) like SQL or spreadsheets</a:t>
            </a:r>
            <a:r>
              <a:rPr lang="en-US" dirty="0" smtClean="0"/>
              <a:t>.</a:t>
            </a:r>
          </a:p>
          <a:p>
            <a:pPr>
              <a:buFont typeface="Arial" panose="020B0604020202020204" pitchFamily="34" charset="0"/>
              <a:buChar char="•"/>
            </a:pPr>
            <a:r>
              <a:rPr lang="en-US" b="1" dirty="0"/>
              <a:t>Ease of Analysis:</a:t>
            </a:r>
            <a:r>
              <a:rPr lang="en-US" dirty="0"/>
              <a:t> Extremely easy to search, query, and analyze using automated algorithms.</a:t>
            </a:r>
          </a:p>
        </p:txBody>
      </p:sp>
    </p:spTree>
    <p:extLst>
      <p:ext uri="{BB962C8B-B14F-4D97-AF65-F5344CB8AC3E}">
        <p14:creationId xmlns:p14="http://schemas.microsoft.com/office/powerpoint/2010/main" val="2179476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2001382" y="265611"/>
            <a:ext cx="9729063" cy="6370320"/>
          </a:xfrm>
        </p:spPr>
        <p:txBody>
          <a:bodyPr>
            <a:normAutofit lnSpcReduction="10000"/>
          </a:bodyPr>
          <a:lstStyle/>
          <a:p>
            <a:pPr>
              <a:buFont typeface="Arial" panose="020B0604020202020204" pitchFamily="34" charset="0"/>
              <a:buChar char="•"/>
            </a:pPr>
            <a:r>
              <a:rPr lang="en-US" b="1" dirty="0"/>
              <a:t>Examples:</a:t>
            </a:r>
            <a:r>
              <a:rPr lang="en-US" dirty="0"/>
              <a:t> Phone numbers, zip codes, transaction histories, and dates</a:t>
            </a:r>
            <a:r>
              <a:rPr lang="en-US" dirty="0" smtClean="0"/>
              <a:t>.</a:t>
            </a:r>
          </a:p>
          <a:p>
            <a:pPr>
              <a:buFont typeface="Wingdings" panose="05000000000000000000" pitchFamily="2" charset="2"/>
              <a:buChar char="v"/>
            </a:pPr>
            <a:r>
              <a:rPr lang="en-US" b="1" dirty="0"/>
              <a:t>Unstructured </a:t>
            </a:r>
            <a:r>
              <a:rPr lang="en-US" b="1" dirty="0" smtClean="0"/>
              <a:t>Data: </a:t>
            </a:r>
            <a:r>
              <a:rPr lang="en-US" dirty="0"/>
              <a:t>Unstructured data is information that lacks a predefined conceptual structure or organizational blueprint. It constitutes roughly 80% to 90% of all enterprise </a:t>
            </a:r>
            <a:r>
              <a:rPr lang="en-US" dirty="0" smtClean="0"/>
              <a:t>data.</a:t>
            </a:r>
          </a:p>
          <a:p>
            <a:pPr>
              <a:buFont typeface="Arial" panose="020B0604020202020204" pitchFamily="34" charset="0"/>
              <a:buChar char="•"/>
            </a:pPr>
            <a:r>
              <a:rPr lang="en-US" b="1" dirty="0"/>
              <a:t>Format:</a:t>
            </a:r>
            <a:r>
              <a:rPr lang="en-US" dirty="0"/>
              <a:t> Qualitative, native formats without a fixed schema</a:t>
            </a:r>
            <a:r>
              <a:rPr lang="en-US" dirty="0" smtClean="0"/>
              <a:t>.</a:t>
            </a:r>
          </a:p>
          <a:p>
            <a:pPr>
              <a:buFont typeface="Arial" panose="020B0604020202020204" pitchFamily="34" charset="0"/>
              <a:buChar char="•"/>
            </a:pPr>
            <a:r>
              <a:rPr lang="en-US" b="1" dirty="0"/>
              <a:t>Storage:</a:t>
            </a:r>
            <a:r>
              <a:rPr lang="en-US" dirty="0"/>
              <a:t> NoSQL databases and Data Lakes</a:t>
            </a:r>
            <a:r>
              <a:rPr lang="en-US" dirty="0" smtClean="0"/>
              <a:t>.</a:t>
            </a:r>
          </a:p>
          <a:p>
            <a:pPr>
              <a:buFont typeface="Arial" panose="020B0604020202020204" pitchFamily="34" charset="0"/>
              <a:buChar char="•"/>
            </a:pPr>
            <a:r>
              <a:rPr lang="en-US" b="1" dirty="0"/>
              <a:t>Ease of Analysis:</a:t>
            </a:r>
            <a:r>
              <a:rPr lang="en-US" dirty="0"/>
              <a:t> Difficult to analyze without specialized tools like Natural Language Processing (NLP) or Machine Learning</a:t>
            </a:r>
            <a:r>
              <a:rPr lang="en-US" dirty="0" smtClean="0"/>
              <a:t>.</a:t>
            </a:r>
          </a:p>
          <a:p>
            <a:pPr>
              <a:buFont typeface="Arial" panose="020B0604020202020204" pitchFamily="34" charset="0"/>
              <a:buChar char="•"/>
            </a:pPr>
            <a:r>
              <a:rPr lang="en-US" b="1" dirty="0"/>
              <a:t>Examples:</a:t>
            </a:r>
            <a:r>
              <a:rPr lang="en-US" dirty="0"/>
              <a:t> PDF documents, audio files, video recordings, social media posts, and open-ended customer </a:t>
            </a:r>
            <a:r>
              <a:rPr lang="en-US" dirty="0" smtClean="0"/>
              <a:t>feedback.</a:t>
            </a:r>
          </a:p>
          <a:p>
            <a:pPr>
              <a:buFont typeface="Wingdings" panose="05000000000000000000" pitchFamily="2" charset="2"/>
              <a:buChar char="v"/>
            </a:pPr>
            <a:r>
              <a:rPr lang="en-US" b="1" dirty="0"/>
              <a:t>Semi-Structured </a:t>
            </a:r>
            <a:r>
              <a:rPr lang="en-US" b="1" dirty="0" smtClean="0"/>
              <a:t>Data: </a:t>
            </a:r>
            <a:r>
              <a:rPr lang="en-US" dirty="0" smtClean="0"/>
              <a:t>Semi-structured </a:t>
            </a:r>
            <a:r>
              <a:rPr lang="en-US" dirty="0"/>
              <a:t>data sits between the two; it does not fit into a strict relational database grid, but contains internal markers, tags, or hierarchies to separate data </a:t>
            </a:r>
            <a:r>
              <a:rPr lang="en-US" dirty="0" smtClean="0"/>
              <a:t>elements.</a:t>
            </a:r>
          </a:p>
          <a:p>
            <a:pPr>
              <a:buFont typeface="Arial" panose="020B0604020202020204" pitchFamily="34" charset="0"/>
              <a:buChar char="•"/>
            </a:pPr>
            <a:r>
              <a:rPr lang="en-US" b="1" dirty="0"/>
              <a:t>Format:</a:t>
            </a:r>
            <a:r>
              <a:rPr lang="en-US" dirty="0"/>
              <a:t> Flexible, self-describing schemas</a:t>
            </a:r>
            <a:r>
              <a:rPr lang="en-US" dirty="0" smtClean="0"/>
              <a:t>.</a:t>
            </a:r>
          </a:p>
          <a:p>
            <a:pPr>
              <a:buFont typeface="Arial" panose="020B0604020202020204" pitchFamily="34" charset="0"/>
              <a:buChar char="•"/>
            </a:pPr>
            <a:r>
              <a:rPr lang="en-US" b="1" dirty="0"/>
              <a:t>Storage:</a:t>
            </a:r>
            <a:r>
              <a:rPr lang="en-US" dirty="0"/>
              <a:t> NoSQL databases (like MongoDB) or text files with structural rules</a:t>
            </a:r>
            <a:r>
              <a:rPr lang="en-US" dirty="0" smtClean="0"/>
              <a:t>.</a:t>
            </a:r>
          </a:p>
          <a:p>
            <a:pPr>
              <a:buFont typeface="Arial" panose="020B0604020202020204" pitchFamily="34" charset="0"/>
              <a:buChar char="•"/>
            </a:pPr>
            <a:r>
              <a:rPr lang="en-US" b="1" dirty="0" smtClean="0"/>
              <a:t> </a:t>
            </a:r>
            <a:r>
              <a:rPr lang="en-US" b="1" dirty="0"/>
              <a:t>Ease of Analysis:</a:t>
            </a:r>
            <a:r>
              <a:rPr lang="en-US" dirty="0"/>
              <a:t> Moderately easy, as the built-in organizational tags allow automated parsers to sort the data</a:t>
            </a:r>
            <a:r>
              <a:rPr lang="en-US" dirty="0" smtClean="0"/>
              <a:t>.</a:t>
            </a:r>
          </a:p>
          <a:p>
            <a:pPr>
              <a:buFont typeface="Arial" panose="020B0604020202020204" pitchFamily="34" charset="0"/>
              <a:buChar char="•"/>
            </a:pPr>
            <a:r>
              <a:rPr lang="en-US" b="1" dirty="0"/>
              <a:t>Examples:</a:t>
            </a:r>
            <a:r>
              <a:rPr lang="en-US" dirty="0"/>
              <a:t> JSON files, XML code, HTML web pages, and CSV sheets with varying schemas.</a:t>
            </a:r>
            <a:endParaRPr lang="en-US" b="1" dirty="0"/>
          </a:p>
        </p:txBody>
      </p:sp>
    </p:spTree>
    <p:extLst>
      <p:ext uri="{BB962C8B-B14F-4D97-AF65-F5344CB8AC3E}">
        <p14:creationId xmlns:p14="http://schemas.microsoft.com/office/powerpoint/2010/main" val="1536022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619795" y="278674"/>
            <a:ext cx="10162902" cy="6331131"/>
          </a:xfrm>
        </p:spPr>
        <p:txBody>
          <a:bodyPr/>
          <a:lstStyle/>
          <a:p>
            <a:pPr>
              <a:buFont typeface="Wingdings" panose="05000000000000000000" pitchFamily="2" charset="2"/>
              <a:buChar char="q"/>
            </a:pPr>
            <a:r>
              <a:rPr lang="en-US" i="1" dirty="0" smtClean="0"/>
              <a:t>Common Data Sources</a:t>
            </a:r>
          </a:p>
          <a:p>
            <a:pPr marL="0" indent="0">
              <a:buNone/>
            </a:pPr>
            <a:r>
              <a:rPr lang="en-US" dirty="0"/>
              <a:t>Data sources provide the raw inputs required for business operations, analysis, and strategic decision-making. They are broadly categorized by their origin and how the data is </a:t>
            </a:r>
            <a:r>
              <a:rPr lang="en-US" dirty="0" smtClean="0"/>
              <a:t>accessed.</a:t>
            </a:r>
          </a:p>
          <a:p>
            <a:pPr>
              <a:buFont typeface="Wingdings" panose="05000000000000000000" pitchFamily="2" charset="2"/>
              <a:buChar char="v"/>
            </a:pPr>
            <a:r>
              <a:rPr lang="en-US" b="1" dirty="0"/>
              <a:t>Internal Data </a:t>
            </a:r>
            <a:r>
              <a:rPr lang="en-US" b="1" dirty="0" smtClean="0"/>
              <a:t>Sources: </a:t>
            </a:r>
            <a:r>
              <a:rPr lang="en-US" dirty="0"/>
              <a:t>Data generated natively within an organization's own day-to-day business </a:t>
            </a:r>
            <a:r>
              <a:rPr lang="en-US" dirty="0" smtClean="0"/>
              <a:t>operations.</a:t>
            </a:r>
          </a:p>
          <a:p>
            <a:pPr>
              <a:buFont typeface="Arial" panose="020B0604020202020204" pitchFamily="34" charset="0"/>
              <a:buChar char="•"/>
            </a:pPr>
            <a:r>
              <a:rPr lang="en-US" b="1" dirty="0"/>
              <a:t>Characteristics:</a:t>
            </a:r>
            <a:r>
              <a:rPr lang="en-US" dirty="0"/>
              <a:t> Highly secure, proprietary, and specific to company performance</a:t>
            </a:r>
            <a:r>
              <a:rPr lang="en-US" dirty="0" smtClean="0"/>
              <a:t>.</a:t>
            </a:r>
          </a:p>
          <a:p>
            <a:pPr>
              <a:buFont typeface="Arial" panose="020B0604020202020204" pitchFamily="34" charset="0"/>
              <a:buChar char="•"/>
            </a:pPr>
            <a:r>
              <a:rPr lang="en-US" b="1" dirty="0"/>
              <a:t>Examples:</a:t>
            </a:r>
            <a:r>
              <a:rPr lang="en-US" dirty="0"/>
              <a:t> Employee payroll records, internal sales transaction logs, and manufacturing machine sensor data</a:t>
            </a:r>
            <a:r>
              <a:rPr lang="en-US" dirty="0" smtClean="0"/>
              <a:t>.</a:t>
            </a:r>
          </a:p>
          <a:p>
            <a:pPr>
              <a:buFont typeface="Wingdings" panose="05000000000000000000" pitchFamily="2" charset="2"/>
              <a:buChar char="v"/>
            </a:pPr>
            <a:r>
              <a:rPr lang="en-US" b="1" dirty="0"/>
              <a:t>External Data </a:t>
            </a:r>
            <a:r>
              <a:rPr lang="en-US" b="1" dirty="0" smtClean="0"/>
              <a:t>Sources: </a:t>
            </a:r>
            <a:r>
              <a:rPr lang="en-US" dirty="0"/>
              <a:t>Data gathered from origins outside the boundaries of the organization</a:t>
            </a:r>
            <a:r>
              <a:rPr lang="en-US" dirty="0" smtClean="0"/>
              <a:t>.</a:t>
            </a:r>
          </a:p>
          <a:p>
            <a:pPr>
              <a:buFont typeface="Arial" panose="020B0604020202020204" pitchFamily="34" charset="0"/>
              <a:buChar char="•"/>
            </a:pPr>
            <a:r>
              <a:rPr lang="en-US" b="1" dirty="0"/>
              <a:t>Characteristics:</a:t>
            </a:r>
            <a:r>
              <a:rPr lang="en-US" dirty="0"/>
              <a:t> Publicly or commercially available; used to understand market context and trends</a:t>
            </a:r>
            <a:r>
              <a:rPr lang="en-US" dirty="0" smtClean="0"/>
              <a:t>.</a:t>
            </a:r>
          </a:p>
          <a:p>
            <a:pPr>
              <a:buFont typeface="Arial" panose="020B0604020202020204" pitchFamily="34" charset="0"/>
              <a:buChar char="•"/>
            </a:pPr>
            <a:r>
              <a:rPr lang="en-US" b="1" dirty="0"/>
              <a:t>Examples:</a:t>
            </a:r>
            <a:r>
              <a:rPr lang="en-US" dirty="0"/>
              <a:t> Stock market feeds, public census statistics, weather patterns, and competitor pricing indexes</a:t>
            </a:r>
            <a:r>
              <a:rPr lang="en-US" dirty="0" smtClean="0"/>
              <a:t>.</a:t>
            </a:r>
          </a:p>
          <a:p>
            <a:pPr>
              <a:buFont typeface="Wingdings" panose="05000000000000000000" pitchFamily="2" charset="2"/>
              <a:buChar char="v"/>
            </a:pPr>
            <a:r>
              <a:rPr lang="en-US" b="1" dirty="0" smtClean="0"/>
              <a:t>Databases: </a:t>
            </a:r>
            <a:r>
              <a:rPr lang="en-US" dirty="0"/>
              <a:t>Structured storage systems that house, organize, and manage large volumes of data for easy </a:t>
            </a:r>
            <a:r>
              <a:rPr lang="en-US" dirty="0" smtClean="0"/>
              <a:t>retrieval.</a:t>
            </a:r>
            <a:endParaRPr lang="en-US" b="1" dirty="0"/>
          </a:p>
        </p:txBody>
      </p:sp>
    </p:spTree>
    <p:extLst>
      <p:ext uri="{BB962C8B-B14F-4D97-AF65-F5344CB8AC3E}">
        <p14:creationId xmlns:p14="http://schemas.microsoft.com/office/powerpoint/2010/main" val="2366711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923006" y="265611"/>
            <a:ext cx="9846627" cy="6357257"/>
          </a:xfrm>
        </p:spPr>
        <p:txBody>
          <a:bodyPr/>
          <a:lstStyle/>
          <a:p>
            <a:pPr>
              <a:buFont typeface="Arial" panose="020B0604020202020204" pitchFamily="34" charset="0"/>
              <a:buChar char="•"/>
            </a:pPr>
            <a:r>
              <a:rPr lang="en-US" b="1" dirty="0"/>
              <a:t>Characteristics:</a:t>
            </a:r>
            <a:r>
              <a:rPr lang="en-US" dirty="0"/>
              <a:t> Act as the central repository for both internal and external historical records</a:t>
            </a:r>
            <a:r>
              <a:rPr lang="en-US" dirty="0" smtClean="0"/>
              <a:t>.</a:t>
            </a:r>
          </a:p>
          <a:p>
            <a:pPr>
              <a:buFont typeface="Arial" panose="020B0604020202020204" pitchFamily="34" charset="0"/>
              <a:buChar char="•"/>
            </a:pPr>
            <a:r>
              <a:rPr lang="en-US" b="1" dirty="0"/>
              <a:t>Examples:</a:t>
            </a:r>
            <a:r>
              <a:rPr lang="en-US" dirty="0"/>
              <a:t> Relational databases (like MySQL or Oracle) storing customer accounts, and non-relational databases (like MongoDB) storing product catalogs</a:t>
            </a:r>
            <a:r>
              <a:rPr lang="en-US" dirty="0" smtClean="0"/>
              <a:t>.</a:t>
            </a:r>
          </a:p>
          <a:p>
            <a:pPr>
              <a:buFont typeface="Wingdings" panose="05000000000000000000" pitchFamily="2" charset="2"/>
              <a:buChar char="v"/>
            </a:pPr>
            <a:r>
              <a:rPr lang="en-US" b="1" dirty="0"/>
              <a:t>APIs (Application Programming Interfaces</a:t>
            </a:r>
            <a:r>
              <a:rPr lang="en-US" b="1" dirty="0" smtClean="0"/>
              <a:t>): </a:t>
            </a:r>
            <a:r>
              <a:rPr lang="en-US" dirty="0"/>
              <a:t>Software intermediaries that allow two different digital applications to interact and stream data to each other in real </a:t>
            </a:r>
            <a:r>
              <a:rPr lang="en-US" dirty="0" smtClean="0"/>
              <a:t>time.</a:t>
            </a:r>
          </a:p>
          <a:p>
            <a:pPr>
              <a:buFont typeface="Arial" panose="020B0604020202020204" pitchFamily="34" charset="0"/>
              <a:buChar char="•"/>
            </a:pPr>
            <a:r>
              <a:rPr lang="en-US" b="1" dirty="0"/>
              <a:t>Characteristics:</a:t>
            </a:r>
            <a:r>
              <a:rPr lang="en-US" dirty="0"/>
              <a:t> Dynamic, live pipelines used to fetch specific external data points without downloading entire databases</a:t>
            </a:r>
            <a:r>
              <a:rPr lang="en-US" dirty="0" smtClean="0"/>
              <a:t>.</a:t>
            </a:r>
          </a:p>
          <a:p>
            <a:pPr>
              <a:buFont typeface="Arial" panose="020B0604020202020204" pitchFamily="34" charset="0"/>
              <a:buChar char="•"/>
            </a:pPr>
            <a:r>
              <a:rPr lang="en-US" b="1" dirty="0"/>
              <a:t>Examples:</a:t>
            </a:r>
            <a:r>
              <a:rPr lang="en-US" dirty="0"/>
              <a:t> Integrating a Google Maps API to track delivery trucks, or using a Stripe API to receive instant credit card payment confirmations</a:t>
            </a:r>
            <a:r>
              <a:rPr lang="en-US" dirty="0" smtClean="0"/>
              <a:t>.</a:t>
            </a:r>
          </a:p>
          <a:p>
            <a:pPr marL="0" indent="0">
              <a:buNone/>
            </a:pPr>
            <a:endParaRPr lang="en-US" dirty="0"/>
          </a:p>
          <a:p>
            <a:pPr>
              <a:buFont typeface="Wingdings" panose="05000000000000000000" pitchFamily="2" charset="2"/>
              <a:buChar char="q"/>
            </a:pPr>
            <a:r>
              <a:rPr lang="en-US" i="1" dirty="0" smtClean="0"/>
              <a:t>Data Lifecycle Management</a:t>
            </a:r>
          </a:p>
          <a:p>
            <a:pPr marL="0" indent="0">
              <a:buNone/>
            </a:pPr>
            <a:r>
              <a:rPr lang="en-US" b="1" dirty="0"/>
              <a:t>Data Lifecycle Management (DLM)</a:t>
            </a:r>
            <a:r>
              <a:rPr lang="en-US" dirty="0"/>
              <a:t> is a policy-based approach to managing an organization’s data from its initial creation to its final destruction. It ensures data remains secure, compliant, and accessible while optimizing storage </a:t>
            </a:r>
            <a:r>
              <a:rPr lang="en-US" dirty="0" smtClean="0"/>
              <a:t>costs.</a:t>
            </a:r>
          </a:p>
          <a:p>
            <a:pPr>
              <a:buFont typeface="Wingdings" panose="05000000000000000000" pitchFamily="2" charset="2"/>
              <a:buChar char="v"/>
            </a:pPr>
            <a:r>
              <a:rPr lang="en-US" b="1" u="sng" dirty="0"/>
              <a:t>Data Creation &amp; </a:t>
            </a:r>
            <a:r>
              <a:rPr lang="en-US" b="1" u="sng" dirty="0" smtClean="0"/>
              <a:t>Capture</a:t>
            </a:r>
            <a:r>
              <a:rPr lang="en-US" b="1" dirty="0" smtClean="0"/>
              <a:t>: </a:t>
            </a:r>
            <a:r>
              <a:rPr lang="en-US" dirty="0" smtClean="0"/>
              <a:t>The </a:t>
            </a:r>
            <a:r>
              <a:rPr lang="en-US" dirty="0"/>
              <a:t>entry point where data is generated or gathered into the enterprise </a:t>
            </a:r>
            <a:r>
              <a:rPr lang="en-US" dirty="0" smtClean="0"/>
              <a:t>ecosystem.</a:t>
            </a:r>
            <a:r>
              <a:rPr lang="en-US" b="1" dirty="0" smtClean="0"/>
              <a:t> </a:t>
            </a:r>
            <a:endParaRPr lang="en-US" b="1" dirty="0"/>
          </a:p>
        </p:txBody>
      </p:sp>
    </p:spTree>
    <p:extLst>
      <p:ext uri="{BB962C8B-B14F-4D97-AF65-F5344CB8AC3E}">
        <p14:creationId xmlns:p14="http://schemas.microsoft.com/office/powerpoint/2010/main" val="2029998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2592925" y="578391"/>
            <a:ext cx="8911687" cy="45719"/>
          </a:xfrm>
        </p:spPr>
        <p:txBody>
          <a:bodyPr>
            <a:normAutofit fontScale="90000"/>
          </a:bodyPr>
          <a:lstStyle/>
          <a:p>
            <a:endParaRPr lang="en-US" dirty="0"/>
          </a:p>
        </p:txBody>
      </p:sp>
      <p:sp>
        <p:nvSpPr>
          <p:cNvPr id="3" name="Content Placeholder 2"/>
          <p:cNvSpPr>
            <a:spLocks noGrp="1"/>
          </p:cNvSpPr>
          <p:nvPr>
            <p:ph idx="1"/>
          </p:nvPr>
        </p:nvSpPr>
        <p:spPr>
          <a:xfrm>
            <a:off x="1658983" y="291736"/>
            <a:ext cx="10136777" cy="6318069"/>
          </a:xfrm>
        </p:spPr>
        <p:txBody>
          <a:bodyPr/>
          <a:lstStyle/>
          <a:p>
            <a:pPr>
              <a:buFont typeface="Arial" panose="020B0604020202020204" pitchFamily="34" charset="0"/>
              <a:buChar char="•"/>
            </a:pPr>
            <a:r>
              <a:rPr lang="en-US" b="1" dirty="0"/>
              <a:t>Activities:</a:t>
            </a:r>
            <a:r>
              <a:rPr lang="en-US" dirty="0"/>
              <a:t> Data entering the system via manual entry, online transactions, </a:t>
            </a:r>
            <a:r>
              <a:rPr lang="en-US" dirty="0" err="1"/>
              <a:t>IoT</a:t>
            </a:r>
            <a:r>
              <a:rPr lang="en-US" dirty="0"/>
              <a:t> sensors, or API integrations</a:t>
            </a:r>
            <a:r>
              <a:rPr lang="en-US" dirty="0" smtClean="0"/>
              <a:t>.</a:t>
            </a:r>
          </a:p>
          <a:p>
            <a:pPr>
              <a:buFont typeface="Arial" panose="020B0604020202020204" pitchFamily="34" charset="0"/>
              <a:buChar char="•"/>
            </a:pPr>
            <a:r>
              <a:rPr lang="en-US" b="1" dirty="0"/>
              <a:t>Key Focus:</a:t>
            </a:r>
            <a:r>
              <a:rPr lang="en-US" dirty="0"/>
              <a:t> Data quality control, metadata tagging, and classification based on </a:t>
            </a:r>
            <a:r>
              <a:rPr lang="en-US" dirty="0" smtClean="0"/>
              <a:t>sensitivity.</a:t>
            </a:r>
          </a:p>
          <a:p>
            <a:pPr>
              <a:buFont typeface="Wingdings" panose="05000000000000000000" pitchFamily="2" charset="2"/>
              <a:buChar char="v"/>
            </a:pPr>
            <a:r>
              <a:rPr lang="en-US" b="1" u="sng" dirty="0"/>
              <a:t>Data Usage &amp; </a:t>
            </a:r>
            <a:r>
              <a:rPr lang="en-US" b="1" u="sng" dirty="0" smtClean="0"/>
              <a:t>Maintenance</a:t>
            </a:r>
            <a:r>
              <a:rPr lang="en-US" b="1" dirty="0" smtClean="0"/>
              <a:t>: </a:t>
            </a:r>
            <a:r>
              <a:rPr lang="en-US" dirty="0"/>
              <a:t>The active phase where data is processed, shared, and used to run the </a:t>
            </a:r>
            <a:r>
              <a:rPr lang="en-US" dirty="0" smtClean="0"/>
              <a:t>business.</a:t>
            </a:r>
          </a:p>
          <a:p>
            <a:pPr>
              <a:buFont typeface="Arial" panose="020B0604020202020204" pitchFamily="34" charset="0"/>
              <a:buChar char="•"/>
            </a:pPr>
            <a:r>
              <a:rPr lang="en-US" b="1" dirty="0"/>
              <a:t>Activities:</a:t>
            </a:r>
            <a:r>
              <a:rPr lang="en-US" dirty="0"/>
              <a:t> Running analytics, generating reports, sharing files between teams, and updating customer profiles</a:t>
            </a:r>
            <a:r>
              <a:rPr lang="en-US" dirty="0" smtClean="0"/>
              <a:t>.</a:t>
            </a:r>
          </a:p>
          <a:p>
            <a:pPr>
              <a:buFont typeface="Arial" panose="020B0604020202020204" pitchFamily="34" charset="0"/>
              <a:buChar char="•"/>
            </a:pPr>
            <a:r>
              <a:rPr lang="en-US" b="1" dirty="0"/>
              <a:t>Key Focus:</a:t>
            </a:r>
            <a:r>
              <a:rPr lang="en-US" dirty="0"/>
              <a:t> Access controls, encryption in transit, and maintaining data integrity during collaborative </a:t>
            </a:r>
            <a:r>
              <a:rPr lang="en-US" dirty="0" smtClean="0"/>
              <a:t>use.</a:t>
            </a:r>
          </a:p>
          <a:p>
            <a:pPr>
              <a:buFont typeface="Wingdings" panose="05000000000000000000" pitchFamily="2" charset="2"/>
              <a:buChar char="v"/>
            </a:pPr>
            <a:r>
              <a:rPr lang="en-US" b="1" u="sng" dirty="0"/>
              <a:t>Data </a:t>
            </a:r>
            <a:r>
              <a:rPr lang="en-US" b="1" u="sng" dirty="0" smtClean="0"/>
              <a:t>Storage</a:t>
            </a:r>
            <a:r>
              <a:rPr lang="en-US" b="1" dirty="0" smtClean="0"/>
              <a:t>: </a:t>
            </a:r>
            <a:r>
              <a:rPr lang="en-US" dirty="0"/>
              <a:t>The ongoing preservation of data on accessible systems for regular operational </a:t>
            </a:r>
            <a:r>
              <a:rPr lang="en-US" dirty="0" smtClean="0"/>
              <a:t>needs.</a:t>
            </a:r>
          </a:p>
          <a:p>
            <a:pPr>
              <a:buFont typeface="Arial" panose="020B0604020202020204" pitchFamily="34" charset="0"/>
              <a:buChar char="•"/>
            </a:pPr>
            <a:r>
              <a:rPr lang="en-US" b="1" dirty="0"/>
              <a:t>Activities:</a:t>
            </a:r>
            <a:r>
              <a:rPr lang="en-US" dirty="0"/>
              <a:t> Storing operational records in relational databases, cloud storage, or </a:t>
            </a:r>
            <a:r>
              <a:rPr lang="en-US" dirty="0" err="1"/>
              <a:t>on-premise</a:t>
            </a:r>
            <a:r>
              <a:rPr lang="en-US" dirty="0"/>
              <a:t> </a:t>
            </a:r>
            <a:r>
              <a:rPr lang="en-US" dirty="0" smtClean="0"/>
              <a:t>servers.</a:t>
            </a:r>
          </a:p>
          <a:p>
            <a:pPr>
              <a:buFont typeface="Arial" panose="020B0604020202020204" pitchFamily="34" charset="0"/>
              <a:buChar char="•"/>
            </a:pPr>
            <a:r>
              <a:rPr lang="en-US" b="1" dirty="0"/>
              <a:t>Key Focus:</a:t>
            </a:r>
            <a:r>
              <a:rPr lang="en-US" dirty="0"/>
              <a:t> Setting up automatic data backups, disaster recovery plans, and fast retrieval speeds</a:t>
            </a:r>
            <a:r>
              <a:rPr lang="en-US" dirty="0" smtClean="0"/>
              <a:t>.</a:t>
            </a:r>
          </a:p>
          <a:p>
            <a:pPr>
              <a:buFont typeface="Wingdings" panose="05000000000000000000" pitchFamily="2" charset="2"/>
              <a:buChar char="v"/>
            </a:pPr>
            <a:r>
              <a:rPr lang="en-US" b="1" u="sng" dirty="0"/>
              <a:t>Data </a:t>
            </a:r>
            <a:r>
              <a:rPr lang="en-US" b="1" u="sng" dirty="0" smtClean="0"/>
              <a:t>Archiving: </a:t>
            </a:r>
            <a:r>
              <a:rPr lang="en-US" dirty="0"/>
              <a:t>Moving older, infrequently accessed data out of production environments into long-term storage.</a:t>
            </a:r>
            <a:endParaRPr lang="en-US" b="1" u="sng" dirty="0"/>
          </a:p>
        </p:txBody>
      </p:sp>
    </p:spTree>
    <p:extLst>
      <p:ext uri="{BB962C8B-B14F-4D97-AF65-F5344CB8AC3E}">
        <p14:creationId xmlns:p14="http://schemas.microsoft.com/office/powerpoint/2010/main" val="1016830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635622" y="370113"/>
            <a:ext cx="10369143" cy="6318069"/>
          </a:xfrm>
        </p:spPr>
        <p:txBody>
          <a:bodyPr/>
          <a:lstStyle/>
          <a:p>
            <a:pPr>
              <a:buFont typeface="Arial" panose="020B0604020202020204" pitchFamily="34" charset="0"/>
              <a:buChar char="•"/>
            </a:pPr>
            <a:r>
              <a:rPr lang="en-US" b="1" dirty="0"/>
              <a:t>Activities:</a:t>
            </a:r>
            <a:r>
              <a:rPr lang="en-US" dirty="0"/>
              <a:t> Relocating historical data (like tax records from five years ago) to low-cost, cold cloud storage tiers</a:t>
            </a:r>
            <a:r>
              <a:rPr lang="en-US" dirty="0" smtClean="0"/>
              <a:t>.</a:t>
            </a:r>
          </a:p>
          <a:p>
            <a:pPr>
              <a:buFont typeface="Arial" panose="020B0604020202020204" pitchFamily="34" charset="0"/>
              <a:buChar char="•"/>
            </a:pPr>
            <a:r>
              <a:rPr lang="en-US" b="1" dirty="0"/>
              <a:t>Key Focus:</a:t>
            </a:r>
            <a:r>
              <a:rPr lang="en-US" dirty="0"/>
              <a:t> Compliance with regulatory retention laws while reducing production storage costs</a:t>
            </a:r>
            <a:r>
              <a:rPr lang="en-US" dirty="0" smtClean="0"/>
              <a:t>.</a:t>
            </a:r>
          </a:p>
          <a:p>
            <a:pPr>
              <a:buFont typeface="Wingdings" panose="05000000000000000000" pitchFamily="2" charset="2"/>
              <a:buChar char="v"/>
            </a:pPr>
            <a:r>
              <a:rPr lang="en-US" b="1" u="sng" dirty="0"/>
              <a:t>Data Deletion &amp; </a:t>
            </a:r>
            <a:r>
              <a:rPr lang="en-US" b="1" u="sng" dirty="0" smtClean="0"/>
              <a:t>Destruction: </a:t>
            </a:r>
            <a:r>
              <a:rPr lang="en-US" dirty="0"/>
              <a:t>The permanent removal of data when it is no longer useful or legally required</a:t>
            </a:r>
            <a:r>
              <a:rPr lang="en-US" dirty="0" smtClean="0"/>
              <a:t>.</a:t>
            </a:r>
          </a:p>
          <a:p>
            <a:pPr>
              <a:buFont typeface="Arial" panose="020B0604020202020204" pitchFamily="34" charset="0"/>
              <a:buChar char="•"/>
            </a:pPr>
            <a:r>
              <a:rPr lang="en-US" b="1" dirty="0"/>
              <a:t>Activities:</a:t>
            </a:r>
            <a:r>
              <a:rPr lang="en-US" dirty="0"/>
              <a:t> Digital shredding, overwriting storage blocks, or physically destroying old hard drives</a:t>
            </a:r>
            <a:r>
              <a:rPr lang="en-US" dirty="0" smtClean="0"/>
              <a:t>.</a:t>
            </a:r>
          </a:p>
          <a:p>
            <a:pPr>
              <a:buFont typeface="Arial" panose="020B0604020202020204" pitchFamily="34" charset="0"/>
              <a:buChar char="•"/>
            </a:pPr>
            <a:r>
              <a:rPr lang="en-US" b="1" dirty="0"/>
              <a:t>Key Focus:</a:t>
            </a:r>
            <a:r>
              <a:rPr lang="en-US" dirty="0"/>
              <a:t> Compliance with privacy laws (like GDPR or CCPA) and preventing data leaks from discarded hardware</a:t>
            </a:r>
            <a:r>
              <a:rPr lang="en-US" dirty="0" smtClean="0"/>
              <a:t>.</a:t>
            </a:r>
          </a:p>
          <a:p>
            <a:pPr>
              <a:buFont typeface="Arial" panose="020B0604020202020204" pitchFamily="34" charset="0"/>
              <a:buChar char="•"/>
            </a:pPr>
            <a:endParaRPr lang="en-US" dirty="0"/>
          </a:p>
          <a:p>
            <a:pPr>
              <a:buFont typeface="Wingdings" panose="05000000000000000000" pitchFamily="2" charset="2"/>
              <a:buChar char="q"/>
            </a:pPr>
            <a:r>
              <a:rPr lang="en-US" i="1" dirty="0" smtClean="0"/>
              <a:t>Data Quality &amp; Integrity</a:t>
            </a:r>
          </a:p>
          <a:p>
            <a:pPr marL="0" indent="0">
              <a:buNone/>
            </a:pPr>
            <a:r>
              <a:rPr lang="en-US" b="1" dirty="0"/>
              <a:t>Data quality</a:t>
            </a:r>
            <a:r>
              <a:rPr lang="en-US" dirty="0"/>
              <a:t> and </a:t>
            </a:r>
            <a:r>
              <a:rPr lang="en-US" b="1" dirty="0"/>
              <a:t>data integrity</a:t>
            </a:r>
            <a:r>
              <a:rPr lang="en-US" dirty="0"/>
              <a:t> are distinct but closely related concepts that ensure data is reliable, accurate, and trustworthy for business operations and decision-making</a:t>
            </a:r>
            <a:r>
              <a:rPr lang="en-US" dirty="0" smtClean="0"/>
              <a:t>.</a:t>
            </a:r>
          </a:p>
          <a:p>
            <a:pPr>
              <a:buFont typeface="Wingdings" panose="05000000000000000000" pitchFamily="2" charset="2"/>
              <a:buChar char="v"/>
            </a:pPr>
            <a:r>
              <a:rPr lang="en-US" b="1" u="sng" dirty="0"/>
              <a:t>Data </a:t>
            </a:r>
            <a:r>
              <a:rPr lang="en-US" b="1" u="sng" dirty="0" smtClean="0"/>
              <a:t>Quality: </a:t>
            </a:r>
            <a:r>
              <a:rPr lang="en-US" dirty="0"/>
              <a:t>Data quality refers to the </a:t>
            </a:r>
            <a:r>
              <a:rPr lang="en-US" b="1" dirty="0"/>
              <a:t>condition and fitness</a:t>
            </a:r>
            <a:r>
              <a:rPr lang="en-US" dirty="0"/>
              <a:t> of data to serve its intended purpose. It answers the question: </a:t>
            </a:r>
            <a:r>
              <a:rPr lang="en-US" i="1" dirty="0"/>
              <a:t>Is this data useful and accurate for the business</a:t>
            </a:r>
            <a:r>
              <a:rPr lang="en-US" i="1" dirty="0" smtClean="0"/>
              <a:t>?</a:t>
            </a:r>
          </a:p>
          <a:p>
            <a:pPr>
              <a:buFont typeface="Arial" panose="020B0604020202020204" pitchFamily="34" charset="0"/>
              <a:buChar char="•"/>
            </a:pPr>
            <a:r>
              <a:rPr lang="en-US" b="1" dirty="0"/>
              <a:t>Accuracy:</a:t>
            </a:r>
            <a:r>
              <a:rPr lang="en-US" dirty="0"/>
              <a:t> The data correctly represents the real-world facts (e.g., a customer's spelling of their name matches their government ID).</a:t>
            </a:r>
          </a:p>
        </p:txBody>
      </p:sp>
    </p:spTree>
    <p:extLst>
      <p:ext uri="{BB962C8B-B14F-4D97-AF65-F5344CB8AC3E}">
        <p14:creationId xmlns:p14="http://schemas.microsoft.com/office/powerpoint/2010/main" val="3741273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779315" y="669829"/>
            <a:ext cx="9977256" cy="6396445"/>
          </a:xfrm>
        </p:spPr>
        <p:txBody>
          <a:bodyPr/>
          <a:lstStyle/>
          <a:p>
            <a:pPr>
              <a:buFont typeface="Arial" panose="020B0604020202020204" pitchFamily="34" charset="0"/>
              <a:buChar char="•"/>
            </a:pPr>
            <a:r>
              <a:rPr lang="en-US" b="1" dirty="0"/>
              <a:t>Completeness:</a:t>
            </a:r>
            <a:r>
              <a:rPr lang="en-US" dirty="0"/>
              <a:t> All required data fields are filled; there are no missing values or blank entries in critical records</a:t>
            </a:r>
            <a:r>
              <a:rPr lang="en-US" dirty="0" smtClean="0"/>
              <a:t>.</a:t>
            </a:r>
          </a:p>
          <a:p>
            <a:pPr>
              <a:buFont typeface="Arial" panose="020B0604020202020204" pitchFamily="34" charset="0"/>
              <a:buChar char="•"/>
            </a:pPr>
            <a:r>
              <a:rPr lang="en-US" b="1" dirty="0"/>
              <a:t>Consistency:</a:t>
            </a:r>
            <a:r>
              <a:rPr lang="en-US" dirty="0"/>
              <a:t> The same data values match across different systems (e.g., a customer’s address is identical in both the CRM and ERP systems</a:t>
            </a:r>
            <a:r>
              <a:rPr lang="en-US" dirty="0" smtClean="0"/>
              <a:t>).</a:t>
            </a:r>
          </a:p>
          <a:p>
            <a:pPr>
              <a:buFont typeface="Arial" panose="020B0604020202020204" pitchFamily="34" charset="0"/>
              <a:buChar char="•"/>
            </a:pPr>
            <a:r>
              <a:rPr lang="en-US" b="1" dirty="0"/>
              <a:t>Timeliness:</a:t>
            </a:r>
            <a:r>
              <a:rPr lang="en-US" dirty="0"/>
              <a:t> The data is up to date and available when needed for decision-making (e.g., real-time inventory counts</a:t>
            </a:r>
            <a:r>
              <a:rPr lang="en-US" dirty="0" smtClean="0"/>
              <a:t>).</a:t>
            </a:r>
          </a:p>
          <a:p>
            <a:pPr>
              <a:buFont typeface="Arial" panose="020B0604020202020204" pitchFamily="34" charset="0"/>
              <a:buChar char="•"/>
            </a:pPr>
            <a:r>
              <a:rPr lang="en-US" b="1" dirty="0"/>
              <a:t>Uniqueness:</a:t>
            </a:r>
            <a:r>
              <a:rPr lang="en-US" dirty="0"/>
              <a:t> Each data record is unique, ensuring there are no duplicate entries in the database</a:t>
            </a:r>
            <a:r>
              <a:rPr lang="en-US" dirty="0" smtClean="0"/>
              <a:t>.</a:t>
            </a:r>
          </a:p>
          <a:p>
            <a:pPr>
              <a:buFont typeface="Wingdings" panose="05000000000000000000" pitchFamily="2" charset="2"/>
              <a:buChar char="v"/>
            </a:pPr>
            <a:r>
              <a:rPr lang="en-US" b="1" u="sng" dirty="0"/>
              <a:t>Data </a:t>
            </a:r>
            <a:r>
              <a:rPr lang="en-US" b="1" u="sng" dirty="0" smtClean="0"/>
              <a:t>Integrity: </a:t>
            </a:r>
            <a:r>
              <a:rPr lang="en-US" dirty="0"/>
              <a:t>Data integrity refers to the </a:t>
            </a:r>
            <a:r>
              <a:rPr lang="en-US" b="1" dirty="0"/>
              <a:t>overall validity, accuracy, and consistency</a:t>
            </a:r>
            <a:r>
              <a:rPr lang="en-US" dirty="0"/>
              <a:t> of data as it moves through its entire lifecycle. It answers the question: </a:t>
            </a:r>
            <a:r>
              <a:rPr lang="en-US" i="1" dirty="0"/>
              <a:t>Has this data been altered, corrupted, or tampered with</a:t>
            </a:r>
            <a:r>
              <a:rPr lang="en-US" i="1" dirty="0" smtClean="0"/>
              <a:t>?</a:t>
            </a:r>
          </a:p>
          <a:p>
            <a:pPr>
              <a:buFont typeface="Arial" panose="020B0604020202020204" pitchFamily="34" charset="0"/>
              <a:buChar char="•"/>
            </a:pPr>
            <a:r>
              <a:rPr lang="en-US" b="1" dirty="0"/>
              <a:t>Physical Integrity:</a:t>
            </a:r>
            <a:r>
              <a:rPr lang="en-US" dirty="0"/>
              <a:t> Protecting data from hardware failures, power outages, or natural disasters through backups and redundancy</a:t>
            </a:r>
            <a:r>
              <a:rPr lang="en-US" dirty="0" smtClean="0"/>
              <a:t>.</a:t>
            </a:r>
          </a:p>
          <a:p>
            <a:pPr>
              <a:buFont typeface="Arial" panose="020B0604020202020204" pitchFamily="34" charset="0"/>
              <a:buChar char="•"/>
            </a:pPr>
            <a:r>
              <a:rPr lang="en-US" b="1" dirty="0"/>
              <a:t>Logical Integrity:</a:t>
            </a:r>
            <a:r>
              <a:rPr lang="en-US" dirty="0"/>
              <a:t> Enforcing rules within the database structure to keep data sensible and error-free. It includes</a:t>
            </a:r>
            <a:r>
              <a:rPr lang="en-US" dirty="0" smtClean="0"/>
              <a:t>:</a:t>
            </a:r>
          </a:p>
          <a:p>
            <a:r>
              <a:rPr lang="en-US" dirty="0"/>
              <a:t>Entity Integrity, Referential Integrity, Domain Integrity</a:t>
            </a:r>
          </a:p>
        </p:txBody>
      </p:sp>
    </p:spTree>
    <p:extLst>
      <p:ext uri="{BB962C8B-B14F-4D97-AF65-F5344CB8AC3E}">
        <p14:creationId xmlns:p14="http://schemas.microsoft.com/office/powerpoint/2010/main" val="19745018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698172" y="357050"/>
            <a:ext cx="10071462" cy="6409509"/>
          </a:xfrm>
        </p:spPr>
        <p:txBody>
          <a:bodyPr/>
          <a:lstStyle/>
          <a:p>
            <a:pPr>
              <a:buFont typeface="Wingdings" panose="05000000000000000000" pitchFamily="2" charset="2"/>
              <a:buChar char="q"/>
            </a:pPr>
            <a:r>
              <a:rPr lang="en-US" i="1" dirty="0" smtClean="0"/>
              <a:t>Definition and Responsibilities of a Business Analyst</a:t>
            </a:r>
          </a:p>
          <a:p>
            <a:pPr marL="0" indent="0">
              <a:buNone/>
            </a:pPr>
            <a:r>
              <a:rPr lang="en-US" dirty="0"/>
              <a:t>A </a:t>
            </a:r>
            <a:r>
              <a:rPr lang="en-US" b="1" dirty="0"/>
              <a:t>Business Analyst (BA)</a:t>
            </a:r>
            <a:r>
              <a:rPr lang="en-US" dirty="0"/>
              <a:t> acts as a strategic bridge between business stakeholders and IT teams. Their primary role is to analyze an organization's processes, identify operational problems, and design data-driven solutions to improve efficiency and </a:t>
            </a:r>
            <a:r>
              <a:rPr lang="en-US" dirty="0" smtClean="0"/>
              <a:t>value.</a:t>
            </a:r>
          </a:p>
          <a:p>
            <a:r>
              <a:rPr lang="en-US" dirty="0"/>
              <a:t>A Business Analyst is an agent of change who reviews organizational workflows, evaluates business models, and translates complex business needs into clear, actionable technical requirements for software developers and </a:t>
            </a:r>
            <a:r>
              <a:rPr lang="en-US" dirty="0" smtClean="0"/>
              <a:t>engineers.</a:t>
            </a:r>
          </a:p>
          <a:p>
            <a:pPr>
              <a:buFont typeface="Wingdings" panose="05000000000000000000" pitchFamily="2" charset="2"/>
              <a:buChar char="v"/>
            </a:pPr>
            <a:r>
              <a:rPr lang="en-US" b="1" dirty="0"/>
              <a:t>Core </a:t>
            </a:r>
            <a:r>
              <a:rPr lang="en-US" b="1" dirty="0" smtClean="0"/>
              <a:t>Responsibilities:</a:t>
            </a:r>
          </a:p>
          <a:p>
            <a:pPr>
              <a:buFont typeface="Arial" panose="020B0604020202020204" pitchFamily="34" charset="0"/>
              <a:buChar char="•"/>
            </a:pPr>
            <a:r>
              <a:rPr lang="en-US" dirty="0"/>
              <a:t>Requirements </a:t>
            </a:r>
            <a:r>
              <a:rPr lang="en-US" dirty="0" smtClean="0"/>
              <a:t>Engineering :-</a:t>
            </a:r>
          </a:p>
          <a:p>
            <a:pPr>
              <a:buFont typeface="Wingdings" panose="05000000000000000000" pitchFamily="2" charset="2"/>
              <a:buChar char="ü"/>
            </a:pPr>
            <a:r>
              <a:rPr lang="en-US" b="1" dirty="0"/>
              <a:t>Elicit Requirements:</a:t>
            </a:r>
            <a:r>
              <a:rPr lang="en-US" dirty="0"/>
              <a:t> Conduct interviews, workshops, and surveys with stakeholders to discover project goals</a:t>
            </a:r>
            <a:r>
              <a:rPr lang="en-US" dirty="0" smtClean="0"/>
              <a:t>.</a:t>
            </a:r>
          </a:p>
          <a:p>
            <a:pPr>
              <a:buFont typeface="Wingdings" panose="05000000000000000000" pitchFamily="2" charset="2"/>
              <a:buChar char="ü"/>
            </a:pPr>
            <a:r>
              <a:rPr lang="en-US" b="1" dirty="0"/>
              <a:t>Document Specifications:</a:t>
            </a:r>
            <a:r>
              <a:rPr lang="en-US" dirty="0"/>
              <a:t> Write detailed Functional Specification Documents (FSDs) and agile user stories</a:t>
            </a:r>
            <a:r>
              <a:rPr lang="en-US" dirty="0" smtClean="0"/>
              <a:t>.</a:t>
            </a:r>
          </a:p>
          <a:p>
            <a:pPr>
              <a:buFont typeface="Wingdings" panose="05000000000000000000" pitchFamily="2" charset="2"/>
              <a:buChar char="ü"/>
            </a:pPr>
            <a:r>
              <a:rPr lang="en-US" b="1" dirty="0"/>
              <a:t>Prioritize Needs:</a:t>
            </a:r>
            <a:r>
              <a:rPr lang="en-US" dirty="0"/>
              <a:t> Filter critical business requests from "nice-to-have" features using frameworks like </a:t>
            </a:r>
            <a:r>
              <a:rPr lang="en-US" dirty="0" err="1" smtClean="0"/>
              <a:t>MoSCoW</a:t>
            </a:r>
            <a:r>
              <a:rPr lang="en-US" dirty="0" smtClean="0"/>
              <a:t>.</a:t>
            </a:r>
          </a:p>
          <a:p>
            <a:pPr>
              <a:buFont typeface="Arial" panose="020B0604020202020204" pitchFamily="34" charset="0"/>
              <a:buChar char="•"/>
            </a:pPr>
            <a:r>
              <a:rPr lang="en-US" dirty="0"/>
              <a:t>Process </a:t>
            </a:r>
            <a:r>
              <a:rPr lang="en-US" dirty="0" smtClean="0"/>
              <a:t>Optimization :-</a:t>
            </a:r>
          </a:p>
          <a:p>
            <a:pPr>
              <a:buFont typeface="Wingdings" panose="05000000000000000000" pitchFamily="2" charset="2"/>
              <a:buChar char="ü"/>
            </a:pPr>
            <a:r>
              <a:rPr lang="en-US" b="1" dirty="0"/>
              <a:t>Map Workflows:</a:t>
            </a:r>
            <a:r>
              <a:rPr lang="en-US" dirty="0"/>
              <a:t> Document current "As-Is" operational workflows using flowcharts or BPMN diagrams.</a:t>
            </a:r>
          </a:p>
        </p:txBody>
      </p:sp>
    </p:spTree>
    <p:extLst>
      <p:ext uri="{BB962C8B-B14F-4D97-AF65-F5344CB8AC3E}">
        <p14:creationId xmlns:p14="http://schemas.microsoft.com/office/powerpoint/2010/main" val="40227218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753189" y="265610"/>
            <a:ext cx="10120948" cy="6344195"/>
          </a:xfrm>
        </p:spPr>
        <p:txBody>
          <a:bodyPr/>
          <a:lstStyle/>
          <a:p>
            <a:pPr>
              <a:buFont typeface="Wingdings" panose="05000000000000000000" pitchFamily="2" charset="2"/>
              <a:buChar char="ü"/>
            </a:pPr>
            <a:r>
              <a:rPr lang="en-US" b="1" dirty="0"/>
              <a:t>Design Solutions:</a:t>
            </a:r>
            <a:r>
              <a:rPr lang="en-US" dirty="0"/>
              <a:t> Engineer future "To-Be" processes that eliminate operational bottlenecks and cut redundant steps</a:t>
            </a:r>
            <a:r>
              <a:rPr lang="en-US" dirty="0" smtClean="0"/>
              <a:t>.</a:t>
            </a:r>
          </a:p>
          <a:p>
            <a:pPr>
              <a:buFont typeface="Wingdings" panose="05000000000000000000" pitchFamily="2" charset="2"/>
              <a:buChar char="ü"/>
            </a:pPr>
            <a:r>
              <a:rPr lang="en-US" b="1" dirty="0"/>
              <a:t>Perform Gap Analysis:</a:t>
            </a:r>
            <a:r>
              <a:rPr lang="en-US" dirty="0"/>
              <a:t> Identify the exact variances between current system capabilities and desired business </a:t>
            </a:r>
            <a:r>
              <a:rPr lang="en-US" dirty="0" smtClean="0"/>
              <a:t>targets.</a:t>
            </a:r>
          </a:p>
          <a:p>
            <a:pPr>
              <a:buFont typeface="Arial" panose="020B0604020202020204" pitchFamily="34" charset="0"/>
              <a:buChar char="•"/>
            </a:pPr>
            <a:r>
              <a:rPr lang="en-US" dirty="0"/>
              <a:t>Stakeholder Management &amp; </a:t>
            </a:r>
            <a:r>
              <a:rPr lang="en-US" dirty="0" smtClean="0"/>
              <a:t>Communication :-</a:t>
            </a:r>
          </a:p>
          <a:p>
            <a:pPr>
              <a:buFont typeface="Wingdings" panose="05000000000000000000" pitchFamily="2" charset="2"/>
              <a:buChar char="ü"/>
            </a:pPr>
            <a:r>
              <a:rPr lang="en-US" b="1" dirty="0"/>
              <a:t>Bridge Communication:</a:t>
            </a:r>
            <a:r>
              <a:rPr lang="en-US" dirty="0"/>
              <a:t> Translate technical limitations into business terms and business goals into developer instructions</a:t>
            </a:r>
            <a:r>
              <a:rPr lang="en-US" dirty="0" smtClean="0"/>
              <a:t>.</a:t>
            </a:r>
          </a:p>
          <a:p>
            <a:pPr>
              <a:buFont typeface="Wingdings" panose="05000000000000000000" pitchFamily="2" charset="2"/>
              <a:buChar char="ü"/>
            </a:pPr>
            <a:r>
              <a:rPr lang="en-US" b="1" dirty="0"/>
              <a:t>Secure Approvals:</a:t>
            </a:r>
            <a:r>
              <a:rPr lang="en-US" dirty="0"/>
              <a:t> Facilitate consensus among conflicting departments to finalize project scopes</a:t>
            </a:r>
            <a:r>
              <a:rPr lang="en-US" dirty="0" smtClean="0"/>
              <a:t>.</a:t>
            </a:r>
          </a:p>
          <a:p>
            <a:pPr>
              <a:buFont typeface="Wingdings" panose="05000000000000000000" pitchFamily="2" charset="2"/>
              <a:buChar char="ü"/>
            </a:pPr>
            <a:r>
              <a:rPr lang="en-US" b="1" dirty="0"/>
              <a:t>Manage Scope:</a:t>
            </a:r>
            <a:r>
              <a:rPr lang="en-US" dirty="0"/>
              <a:t> Prevent project scope creep by validating all changes against original business goals</a:t>
            </a:r>
            <a:r>
              <a:rPr lang="en-US" dirty="0" smtClean="0"/>
              <a:t>.</a:t>
            </a:r>
          </a:p>
          <a:p>
            <a:pPr>
              <a:buFont typeface="Arial" panose="020B0604020202020204" pitchFamily="34" charset="0"/>
              <a:buChar char="•"/>
            </a:pPr>
            <a:r>
              <a:rPr lang="en-US" dirty="0"/>
              <a:t>Testing &amp; Solution </a:t>
            </a:r>
            <a:r>
              <a:rPr lang="en-US" dirty="0" smtClean="0"/>
              <a:t>Validation :-</a:t>
            </a:r>
          </a:p>
          <a:p>
            <a:pPr>
              <a:buFont typeface="Wingdings" panose="05000000000000000000" pitchFamily="2" charset="2"/>
              <a:buChar char="ü"/>
            </a:pPr>
            <a:r>
              <a:rPr lang="en-US" b="1" dirty="0"/>
              <a:t>Define Test Cases:</a:t>
            </a:r>
            <a:r>
              <a:rPr lang="en-US" dirty="0"/>
              <a:t> Create User Acceptance Testing (UAT) scenarios to prove software solves the business issue</a:t>
            </a:r>
            <a:r>
              <a:rPr lang="en-US" dirty="0" smtClean="0"/>
              <a:t>.</a:t>
            </a:r>
          </a:p>
          <a:p>
            <a:pPr>
              <a:buFont typeface="Wingdings" panose="05000000000000000000" pitchFamily="2" charset="2"/>
              <a:buChar char="ü"/>
            </a:pPr>
            <a:r>
              <a:rPr lang="en-US" b="1" dirty="0"/>
              <a:t>Coordinate UAT:</a:t>
            </a:r>
            <a:r>
              <a:rPr lang="en-US" dirty="0"/>
              <a:t> Guide end-users through system testing to collect feedback before final software deployment</a:t>
            </a:r>
            <a:r>
              <a:rPr lang="en-US" dirty="0" smtClean="0"/>
              <a:t>.</a:t>
            </a:r>
          </a:p>
          <a:p>
            <a:pPr>
              <a:buFont typeface="Wingdings" panose="05000000000000000000" pitchFamily="2" charset="2"/>
              <a:buChar char="ü"/>
            </a:pPr>
            <a:r>
              <a:rPr lang="en-US" b="1" dirty="0"/>
              <a:t>Assess ROI:</a:t>
            </a:r>
            <a:r>
              <a:rPr lang="en-US" dirty="0"/>
              <a:t> Evaluate post-launch software performance to verify it achieved the intended financial or operational </a:t>
            </a:r>
            <a:r>
              <a:rPr lang="en-US" dirty="0" smtClean="0"/>
              <a:t>value.</a:t>
            </a:r>
            <a:endParaRPr lang="en-US" dirty="0"/>
          </a:p>
        </p:txBody>
      </p:sp>
    </p:spTree>
    <p:extLst>
      <p:ext uri="{BB962C8B-B14F-4D97-AF65-F5344CB8AC3E}">
        <p14:creationId xmlns:p14="http://schemas.microsoft.com/office/powerpoint/2010/main" val="8068515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685109" y="357051"/>
            <a:ext cx="10045337" cy="6278880"/>
          </a:xfrm>
        </p:spPr>
        <p:txBody>
          <a:bodyPr>
            <a:normAutofit lnSpcReduction="10000"/>
          </a:bodyPr>
          <a:lstStyle/>
          <a:p>
            <a:pPr>
              <a:buFont typeface="Wingdings" panose="05000000000000000000" pitchFamily="2" charset="2"/>
              <a:buChar char="q"/>
            </a:pPr>
            <a:r>
              <a:rPr lang="en-US" i="1" dirty="0" smtClean="0"/>
              <a:t>Key Skills for Business Analysts</a:t>
            </a:r>
          </a:p>
          <a:p>
            <a:pPr marL="0" indent="0">
              <a:buNone/>
            </a:pPr>
            <a:r>
              <a:rPr lang="en-US" dirty="0"/>
              <a:t>A Business Analyst’s success relies heavily on core foundational soft skills and cognitive abilities that turn raw data into strategic solutions</a:t>
            </a:r>
            <a:r>
              <a:rPr lang="en-US" dirty="0" smtClean="0"/>
              <a:t>.</a:t>
            </a:r>
          </a:p>
          <a:p>
            <a:pPr>
              <a:buFont typeface="Wingdings" panose="05000000000000000000" pitchFamily="2" charset="2"/>
              <a:buChar char="v"/>
            </a:pPr>
            <a:r>
              <a:rPr lang="en-US" b="1" u="sng" dirty="0"/>
              <a:t>Communication </a:t>
            </a:r>
            <a:r>
              <a:rPr lang="en-US" b="1" u="sng" dirty="0" smtClean="0"/>
              <a:t>Skill: </a:t>
            </a:r>
            <a:r>
              <a:rPr lang="en-US" dirty="0"/>
              <a:t>Communication is a Business Analyst's most critical asset, serving as the interface between technical developers and non-technical business leaders</a:t>
            </a:r>
            <a:r>
              <a:rPr lang="en-US" dirty="0" smtClean="0"/>
              <a:t>.</a:t>
            </a:r>
          </a:p>
          <a:p>
            <a:r>
              <a:rPr lang="en-US" b="1" dirty="0"/>
              <a:t>Translation Capability:</a:t>
            </a:r>
            <a:r>
              <a:rPr lang="en-US" dirty="0"/>
              <a:t> Translates complex technical limitations into business terms and high-level business visions into precise developer guidelines</a:t>
            </a:r>
            <a:r>
              <a:rPr lang="en-US" dirty="0" smtClean="0"/>
              <a:t>.</a:t>
            </a:r>
          </a:p>
          <a:p>
            <a:r>
              <a:rPr lang="en-US" b="1" dirty="0"/>
              <a:t>Active Listening:</a:t>
            </a:r>
            <a:r>
              <a:rPr lang="en-US" dirty="0"/>
              <a:t> Uncovers the underlying operational pain points of stakeholders during interviews, rather than just taking surface-level feature requests</a:t>
            </a:r>
            <a:r>
              <a:rPr lang="en-US" dirty="0" smtClean="0"/>
              <a:t>.</a:t>
            </a:r>
          </a:p>
          <a:p>
            <a:r>
              <a:rPr lang="en-US" b="1" dirty="0"/>
              <a:t>Clear Documentation:</a:t>
            </a:r>
            <a:r>
              <a:rPr lang="en-US" dirty="0"/>
              <a:t> Drafts unambiguous, easily </a:t>
            </a:r>
            <a:r>
              <a:rPr lang="en-US" dirty="0" err="1"/>
              <a:t>scannable</a:t>
            </a:r>
            <a:r>
              <a:rPr lang="en-US" dirty="0"/>
              <a:t> user stories and functional specification documents that eliminate developer confusion</a:t>
            </a:r>
            <a:r>
              <a:rPr lang="en-US" dirty="0" smtClean="0"/>
              <a:t>.</a:t>
            </a:r>
          </a:p>
          <a:p>
            <a:pPr>
              <a:buFont typeface="Wingdings" panose="05000000000000000000" pitchFamily="2" charset="2"/>
              <a:buChar char="v"/>
            </a:pPr>
            <a:r>
              <a:rPr lang="en-US" b="1" u="sng" dirty="0"/>
              <a:t>Analytical </a:t>
            </a:r>
            <a:r>
              <a:rPr lang="en-US" b="1" u="sng" dirty="0" smtClean="0"/>
              <a:t>Thinking: </a:t>
            </a:r>
            <a:r>
              <a:rPr lang="en-US" dirty="0"/>
              <a:t>Analytical thinking allows a Business Analyst to dissect large, complex organizational problems into smaller, manageable components</a:t>
            </a:r>
            <a:r>
              <a:rPr lang="en-US" dirty="0" smtClean="0"/>
              <a:t>.</a:t>
            </a:r>
          </a:p>
          <a:p>
            <a:r>
              <a:rPr lang="en-US" b="1" dirty="0"/>
              <a:t>Data Interpretation:</a:t>
            </a:r>
            <a:r>
              <a:rPr lang="en-US" dirty="0"/>
              <a:t> Evaluates operational metrics and user feedback to identify trends, performance drops, and operational bottlenecks</a:t>
            </a:r>
            <a:r>
              <a:rPr lang="en-US" dirty="0" smtClean="0"/>
              <a:t>.</a:t>
            </a:r>
          </a:p>
          <a:p>
            <a:r>
              <a:rPr lang="en-US" b="1" dirty="0"/>
              <a:t>Objective Evaluation:</a:t>
            </a:r>
            <a:r>
              <a:rPr lang="en-US" dirty="0"/>
              <a:t> Sifts through conflicting stakeholder opinions to separate genuine business requirements from personal preferences</a:t>
            </a:r>
            <a:r>
              <a:rPr lang="en-US" dirty="0" smtClean="0"/>
              <a:t>.</a:t>
            </a:r>
          </a:p>
          <a:p>
            <a:r>
              <a:rPr lang="en-US" b="1" dirty="0"/>
              <a:t>System Visualization:</a:t>
            </a:r>
            <a:r>
              <a:rPr lang="en-US" dirty="0"/>
              <a:t> Conceptualizes how a change in one corporate department will impact systems and workflows across the entire enterprise.</a:t>
            </a:r>
          </a:p>
        </p:txBody>
      </p:sp>
    </p:spTree>
    <p:extLst>
      <p:ext uri="{BB962C8B-B14F-4D97-AF65-F5344CB8AC3E}">
        <p14:creationId xmlns:p14="http://schemas.microsoft.com/office/powerpoint/2010/main" val="11881746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719"/>
          </a:xfrm>
        </p:spPr>
        <p:txBody>
          <a:bodyPr>
            <a:normAutofit fontScale="90000"/>
          </a:bodyPr>
          <a:lstStyle/>
          <a:p>
            <a:endParaRPr lang="en-US" dirty="0"/>
          </a:p>
        </p:txBody>
      </p:sp>
      <p:sp>
        <p:nvSpPr>
          <p:cNvPr id="3" name="Content Placeholder 2"/>
          <p:cNvSpPr>
            <a:spLocks noGrp="1"/>
          </p:cNvSpPr>
          <p:nvPr>
            <p:ph idx="1"/>
          </p:nvPr>
        </p:nvSpPr>
        <p:spPr>
          <a:xfrm>
            <a:off x="1923007" y="304800"/>
            <a:ext cx="9925004" cy="6278880"/>
          </a:xfrm>
        </p:spPr>
        <p:txBody>
          <a:bodyPr/>
          <a:lstStyle/>
          <a:p>
            <a:pPr>
              <a:buFont typeface="Wingdings" panose="05000000000000000000" pitchFamily="2" charset="2"/>
              <a:buChar char="v"/>
            </a:pPr>
            <a:r>
              <a:rPr lang="en-US" b="1" u="sng" dirty="0"/>
              <a:t>Problem </a:t>
            </a:r>
            <a:r>
              <a:rPr lang="en-US" b="1" u="sng" dirty="0" smtClean="0"/>
              <a:t>Solving: </a:t>
            </a:r>
            <a:r>
              <a:rPr lang="en-US" dirty="0"/>
              <a:t>Problem solving enables a Business Analyst to move from identifying an issue to designing and implementing an efficient, high-value solution</a:t>
            </a:r>
            <a:r>
              <a:rPr lang="en-US" dirty="0" smtClean="0"/>
              <a:t>.</a:t>
            </a:r>
          </a:p>
          <a:p>
            <a:r>
              <a:rPr lang="en-US" b="1" dirty="0"/>
              <a:t>Root Cause Analysis:</a:t>
            </a:r>
            <a:r>
              <a:rPr lang="en-US" dirty="0"/>
              <a:t> Applies structured frameworks (like the "5 Whys" or Ishikawa diagrams) to find the actual origin of a business problem rather than just treating its surface symptoms</a:t>
            </a:r>
            <a:r>
              <a:rPr lang="en-US" dirty="0" smtClean="0"/>
              <a:t>.</a:t>
            </a:r>
          </a:p>
          <a:p>
            <a:r>
              <a:rPr lang="en-US" b="1" dirty="0"/>
              <a:t>Option Evaluation:</a:t>
            </a:r>
            <a:r>
              <a:rPr lang="en-US" dirty="0"/>
              <a:t> Conducts cost-benefit analyses to weigh multiple potential software or process solutions, recommending the path with the highest return on investment (ROI</a:t>
            </a:r>
            <a:r>
              <a:rPr lang="en-US" dirty="0" smtClean="0"/>
              <a:t>).</a:t>
            </a:r>
          </a:p>
          <a:p>
            <a:r>
              <a:rPr lang="en-US" b="1" dirty="0"/>
              <a:t>Adaptability &amp; Mitigation:</a:t>
            </a:r>
            <a:r>
              <a:rPr lang="en-US" dirty="0"/>
              <a:t> Proactively identifies project risks or system constraints early and alters plans smoothly to keep timelines on track.</a:t>
            </a:r>
            <a:endParaRPr lang="en-US" dirty="0" smtClean="0"/>
          </a:p>
          <a:p>
            <a:pPr>
              <a:buFont typeface="Wingdings" panose="05000000000000000000" pitchFamily="2" charset="2"/>
              <a:buChar char="v"/>
            </a:pPr>
            <a:endParaRPr lang="en-US" dirty="0" smtClean="0"/>
          </a:p>
          <a:p>
            <a:pPr>
              <a:buFont typeface="Wingdings" panose="05000000000000000000" pitchFamily="2" charset="2"/>
              <a:buChar char="q"/>
            </a:pPr>
            <a:r>
              <a:rPr lang="en-US" i="1" dirty="0" smtClean="0"/>
              <a:t>Business Analysis Methodologies</a:t>
            </a:r>
          </a:p>
          <a:p>
            <a:pPr marL="0" indent="0">
              <a:buNone/>
            </a:pPr>
            <a:r>
              <a:rPr lang="en-US" dirty="0"/>
              <a:t>Business analysis methodologies define the structured frameworks BAs use to gather requirements, manage projects, and deliver solutions. The two most prominent approaches are </a:t>
            </a:r>
            <a:r>
              <a:rPr lang="en-US" b="1" dirty="0"/>
              <a:t>Waterfall</a:t>
            </a:r>
            <a:r>
              <a:rPr lang="en-US" dirty="0"/>
              <a:t> and </a:t>
            </a:r>
            <a:r>
              <a:rPr lang="en-US" b="1" dirty="0" smtClean="0"/>
              <a:t>Agile.</a:t>
            </a:r>
          </a:p>
          <a:p>
            <a:pPr>
              <a:buFont typeface="Wingdings" panose="05000000000000000000" pitchFamily="2" charset="2"/>
              <a:buChar char="v"/>
            </a:pPr>
            <a:r>
              <a:rPr lang="en-US" b="1" u="sng" dirty="0"/>
              <a:t>Waterfall </a:t>
            </a:r>
            <a:r>
              <a:rPr lang="en-US" b="1" u="sng" dirty="0" smtClean="0"/>
              <a:t>Methodology:- </a:t>
            </a:r>
            <a:r>
              <a:rPr lang="en-US" dirty="0"/>
              <a:t>Waterfall is a linear, sequential approach where a project moves through distinct, rigid phases. Each phase must be 100% complete before the next one </a:t>
            </a:r>
            <a:r>
              <a:rPr lang="en-US" dirty="0" smtClean="0"/>
              <a:t>begins.</a:t>
            </a:r>
            <a:endParaRPr lang="en-US" b="1" u="sng" dirty="0"/>
          </a:p>
        </p:txBody>
      </p:sp>
    </p:spTree>
    <p:extLst>
      <p:ext uri="{BB962C8B-B14F-4D97-AF65-F5344CB8AC3E}">
        <p14:creationId xmlns:p14="http://schemas.microsoft.com/office/powerpoint/2010/main" val="3934882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7531" y="-1280890"/>
            <a:ext cx="8911687" cy="1280890"/>
          </a:xfrm>
        </p:spPr>
        <p:txBody>
          <a:bodyPr/>
          <a:lstStyle/>
          <a:p>
            <a:endParaRPr lang="en-US" dirty="0"/>
          </a:p>
        </p:txBody>
      </p:sp>
      <p:sp>
        <p:nvSpPr>
          <p:cNvPr id="3" name="Content Placeholder 2"/>
          <p:cNvSpPr>
            <a:spLocks noGrp="1"/>
          </p:cNvSpPr>
          <p:nvPr>
            <p:ph idx="1"/>
          </p:nvPr>
        </p:nvSpPr>
        <p:spPr>
          <a:xfrm>
            <a:off x="1687874" y="252548"/>
            <a:ext cx="10107885" cy="6487886"/>
          </a:xfrm>
        </p:spPr>
        <p:txBody>
          <a:bodyPr/>
          <a:lstStyle/>
          <a:p>
            <a:r>
              <a:rPr lang="en-US" b="1" dirty="0"/>
              <a:t>BA Role:</a:t>
            </a:r>
            <a:r>
              <a:rPr lang="en-US" dirty="0"/>
              <a:t> Heavy upfront work. The BA spends months eliciting and writing massive, detailed Functional Specification Documents (FSDs) before any coding </a:t>
            </a:r>
            <a:r>
              <a:rPr lang="en-US" dirty="0" smtClean="0"/>
              <a:t>starts.</a:t>
            </a:r>
          </a:p>
          <a:p>
            <a:r>
              <a:rPr lang="en-US" b="1" dirty="0"/>
              <a:t>Flexibility:</a:t>
            </a:r>
            <a:r>
              <a:rPr lang="en-US" dirty="0"/>
              <a:t> Low. Changing a requirement late in the cycle is costly and </a:t>
            </a:r>
            <a:r>
              <a:rPr lang="en-US" dirty="0" smtClean="0"/>
              <a:t>disruptive.</a:t>
            </a:r>
          </a:p>
          <a:p>
            <a:r>
              <a:rPr lang="en-US" b="1" dirty="0"/>
              <a:t>Testing:</a:t>
            </a:r>
            <a:r>
              <a:rPr lang="en-US" dirty="0"/>
              <a:t> Happens at the very end of the lifecycle, after the product is fully </a:t>
            </a:r>
            <a:r>
              <a:rPr lang="en-US" dirty="0" smtClean="0"/>
              <a:t>built.</a:t>
            </a:r>
          </a:p>
          <a:p>
            <a:r>
              <a:rPr lang="en-US" b="1" dirty="0"/>
              <a:t>Best Used For:</a:t>
            </a:r>
            <a:r>
              <a:rPr lang="en-US" dirty="0"/>
              <a:t> Projects with fixed scopes, predictable outcomes, and strict regulatory compliance requirements (e.g., banking backend migrations or construction software</a:t>
            </a:r>
            <a:r>
              <a:rPr lang="en-US" dirty="0" smtClean="0"/>
              <a:t>).</a:t>
            </a:r>
          </a:p>
          <a:p>
            <a:pPr>
              <a:buFont typeface="Wingdings" panose="05000000000000000000" pitchFamily="2" charset="2"/>
              <a:buChar char="v"/>
            </a:pPr>
            <a:r>
              <a:rPr lang="en-US" b="1" u="sng" dirty="0"/>
              <a:t>Agile </a:t>
            </a:r>
            <a:r>
              <a:rPr lang="en-US" b="1" u="sng" dirty="0" smtClean="0"/>
              <a:t>Methodology:- </a:t>
            </a:r>
            <a:r>
              <a:rPr lang="en-US" dirty="0"/>
              <a:t>Agile is an iterative, incremental approach focused on speed, collaboration, and continuous delivery. Projects are broken down into small, time-boxed cycles called </a:t>
            </a:r>
            <a:r>
              <a:rPr lang="en-US" b="1" dirty="0"/>
              <a:t>Sprints</a:t>
            </a:r>
            <a:r>
              <a:rPr lang="en-US" dirty="0"/>
              <a:t> (usually 2–4 weeks</a:t>
            </a:r>
            <a:r>
              <a:rPr lang="en-US" dirty="0" smtClean="0"/>
              <a:t>).</a:t>
            </a:r>
          </a:p>
          <a:p>
            <a:r>
              <a:rPr lang="en-US" b="1" dirty="0"/>
              <a:t>BA Role:</a:t>
            </a:r>
            <a:r>
              <a:rPr lang="en-US" dirty="0"/>
              <a:t> Continuous involvement. The BA acts as a liaison to the Product Owner, managing a dynamic "Product Backlog" and writing short, focused "User Stories" just before they are built</a:t>
            </a:r>
            <a:r>
              <a:rPr lang="en-US" dirty="0" smtClean="0"/>
              <a:t>.</a:t>
            </a:r>
          </a:p>
          <a:p>
            <a:r>
              <a:rPr lang="en-US" b="1" dirty="0"/>
              <a:t>Flexibility:</a:t>
            </a:r>
            <a:r>
              <a:rPr lang="en-US" dirty="0"/>
              <a:t> High. Requirements evolve based on constant stakeholder and user feedback</a:t>
            </a:r>
            <a:r>
              <a:rPr lang="en-US" dirty="0" smtClean="0"/>
              <a:t>.</a:t>
            </a:r>
          </a:p>
          <a:p>
            <a:r>
              <a:rPr lang="en-US" b="1" dirty="0"/>
              <a:t>Testing:</a:t>
            </a:r>
            <a:r>
              <a:rPr lang="en-US" dirty="0"/>
              <a:t> Continuous. Features are tested and demonstrated at the end of every single sprint</a:t>
            </a:r>
            <a:r>
              <a:rPr lang="en-US" dirty="0" smtClean="0"/>
              <a:t>.</a:t>
            </a:r>
          </a:p>
          <a:p>
            <a:r>
              <a:rPr lang="en-US" b="1" dirty="0"/>
              <a:t>Best Used For:</a:t>
            </a:r>
            <a:r>
              <a:rPr lang="en-US" dirty="0"/>
              <a:t> Fast-paced projects, startups, e-commerce, and modern web/mobile applications where market needs change rapidly.</a:t>
            </a:r>
          </a:p>
        </p:txBody>
      </p:sp>
    </p:spTree>
    <p:extLst>
      <p:ext uri="{BB962C8B-B14F-4D97-AF65-F5344CB8AC3E}">
        <p14:creationId xmlns:p14="http://schemas.microsoft.com/office/powerpoint/2010/main" val="3022403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7531" y="-1280890"/>
            <a:ext cx="8911687" cy="1280890"/>
          </a:xfrm>
        </p:spPr>
        <p:txBody>
          <a:bodyPr/>
          <a:lstStyle/>
          <a:p>
            <a:endParaRPr lang="en-US" dirty="0"/>
          </a:p>
        </p:txBody>
      </p:sp>
      <p:sp>
        <p:nvSpPr>
          <p:cNvPr id="3" name="Content Placeholder 2"/>
          <p:cNvSpPr>
            <a:spLocks noGrp="1"/>
          </p:cNvSpPr>
          <p:nvPr>
            <p:ph idx="1"/>
          </p:nvPr>
        </p:nvSpPr>
        <p:spPr>
          <a:xfrm>
            <a:off x="1753189" y="461554"/>
            <a:ext cx="10094822" cy="6396446"/>
          </a:xfrm>
        </p:spPr>
        <p:txBody>
          <a:bodyPr>
            <a:normAutofit lnSpcReduction="10000"/>
          </a:bodyPr>
          <a:lstStyle/>
          <a:p>
            <a:pPr>
              <a:buFont typeface="Wingdings" panose="05000000000000000000" pitchFamily="2" charset="2"/>
              <a:buChar char="q"/>
            </a:pPr>
            <a:r>
              <a:rPr lang="en-US" i="1" dirty="0" smtClean="0"/>
              <a:t>Stakeholder Management</a:t>
            </a:r>
          </a:p>
          <a:p>
            <a:pPr marL="0" indent="0">
              <a:buNone/>
            </a:pPr>
            <a:r>
              <a:rPr lang="en-US" b="1" dirty="0"/>
              <a:t>Stakeholder management</a:t>
            </a:r>
            <a:r>
              <a:rPr lang="en-US" dirty="0"/>
              <a:t> is the process of identifying, analyzing, and effectively communicating with individuals or groups who have a vested interest in a project's outcome. Its main goal is to win trust, align expectations, and minimize resistance to organizational </a:t>
            </a:r>
            <a:r>
              <a:rPr lang="en-US" dirty="0" smtClean="0"/>
              <a:t>change.</a:t>
            </a:r>
          </a:p>
          <a:p>
            <a:pPr>
              <a:buFont typeface="Wingdings" panose="05000000000000000000" pitchFamily="2" charset="2"/>
              <a:buChar char="v"/>
            </a:pPr>
            <a:r>
              <a:rPr lang="en-US" b="1" u="sng" dirty="0"/>
              <a:t>Stakeholder </a:t>
            </a:r>
            <a:r>
              <a:rPr lang="en-US" b="1" u="sng" dirty="0" smtClean="0"/>
              <a:t>Identification:- </a:t>
            </a:r>
            <a:r>
              <a:rPr lang="en-US" dirty="0"/>
              <a:t>The initial step of discovering every person, team, or organization impacted by or capable of influencing the initiative</a:t>
            </a:r>
            <a:r>
              <a:rPr lang="en-US" dirty="0" smtClean="0"/>
              <a:t>.</a:t>
            </a:r>
          </a:p>
          <a:p>
            <a:pPr marL="400050" indent="-400050">
              <a:buFont typeface="+mj-lt"/>
              <a:buAutoNum type="romanLcPeriod"/>
            </a:pPr>
            <a:r>
              <a:rPr lang="en-US" b="1" dirty="0"/>
              <a:t>Internal Stakeholders:</a:t>
            </a:r>
            <a:r>
              <a:rPr lang="en-US" dirty="0"/>
              <a:t> Project sponsors, software developers, executive leadership, and end-users</a:t>
            </a:r>
            <a:r>
              <a:rPr lang="en-US" dirty="0" smtClean="0"/>
              <a:t>.</a:t>
            </a:r>
          </a:p>
          <a:p>
            <a:pPr marL="400050" indent="-400050">
              <a:buFont typeface="+mj-lt"/>
              <a:buAutoNum type="romanLcPeriod"/>
            </a:pPr>
            <a:r>
              <a:rPr lang="en-US" b="1" dirty="0"/>
              <a:t>External Stakeholders:</a:t>
            </a:r>
            <a:r>
              <a:rPr lang="en-US" dirty="0"/>
              <a:t> Customers, third-party vendors, regulatory compliance bodies, and suppliers</a:t>
            </a:r>
            <a:r>
              <a:rPr lang="en-US" dirty="0" smtClean="0"/>
              <a:t>.</a:t>
            </a:r>
          </a:p>
          <a:p>
            <a:pPr>
              <a:buFont typeface="Wingdings" panose="05000000000000000000" pitchFamily="2" charset="2"/>
              <a:buChar char="v"/>
            </a:pPr>
            <a:r>
              <a:rPr lang="en-US" b="1" u="sng" dirty="0"/>
              <a:t>Stakeholder Analysis (Power-Interest Grid</a:t>
            </a:r>
            <a:r>
              <a:rPr lang="en-US" b="1" u="sng" dirty="0" smtClean="0"/>
              <a:t>):- </a:t>
            </a:r>
            <a:r>
              <a:rPr lang="en-US" dirty="0"/>
              <a:t>BAs categorize stakeholders using a matrix to determine how much attention, engagement, and communication each group requires</a:t>
            </a:r>
            <a:r>
              <a:rPr lang="en-US" dirty="0" smtClean="0"/>
              <a:t>:</a:t>
            </a:r>
          </a:p>
          <a:p>
            <a:pPr marL="400050" indent="-400050">
              <a:buFont typeface="+mj-lt"/>
              <a:buAutoNum type="romanLcPeriod"/>
            </a:pPr>
            <a:r>
              <a:rPr lang="en-US" b="1" dirty="0"/>
              <a:t>High Power, High Interest (Manage Closely):</a:t>
            </a:r>
            <a:r>
              <a:rPr lang="en-US" dirty="0"/>
              <a:t> Key decision-makers like project sponsors and department heads. They require regular updates, deep collaboration, and face-to-face feedback </a:t>
            </a:r>
            <a:r>
              <a:rPr lang="en-US" dirty="0" smtClean="0"/>
              <a:t>sessions.</a:t>
            </a:r>
          </a:p>
          <a:p>
            <a:pPr marL="400050" indent="-400050">
              <a:buFont typeface="+mj-lt"/>
              <a:buAutoNum type="romanLcPeriod"/>
            </a:pPr>
            <a:r>
              <a:rPr lang="en-US" b="1" dirty="0"/>
              <a:t>High Power, Low Interest (Keep Satisfied):</a:t>
            </a:r>
            <a:r>
              <a:rPr lang="en-US" dirty="0"/>
              <a:t> Executives or legal teams who do not manage the day-to-day work but hold veto power. They require high-level progress summaries and immediate risk notifications.</a:t>
            </a:r>
            <a:endParaRPr lang="en-US" b="1" u="sng" dirty="0"/>
          </a:p>
        </p:txBody>
      </p:sp>
    </p:spTree>
    <p:extLst>
      <p:ext uri="{BB962C8B-B14F-4D97-AF65-F5344CB8AC3E}">
        <p14:creationId xmlns:p14="http://schemas.microsoft.com/office/powerpoint/2010/main" val="2449010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0856" y="-1280890"/>
            <a:ext cx="8911687" cy="1280890"/>
          </a:xfrm>
        </p:spPr>
        <p:txBody>
          <a:bodyPr/>
          <a:lstStyle/>
          <a:p>
            <a:endParaRPr lang="en-US" dirty="0"/>
          </a:p>
        </p:txBody>
      </p:sp>
      <p:sp>
        <p:nvSpPr>
          <p:cNvPr id="3" name="Content Placeholder 2"/>
          <p:cNvSpPr>
            <a:spLocks noGrp="1"/>
          </p:cNvSpPr>
          <p:nvPr>
            <p:ph idx="1"/>
          </p:nvPr>
        </p:nvSpPr>
        <p:spPr>
          <a:xfrm>
            <a:off x="1798882" y="500743"/>
            <a:ext cx="10055634" cy="6357257"/>
          </a:xfrm>
        </p:spPr>
        <p:txBody>
          <a:bodyPr/>
          <a:lstStyle/>
          <a:p>
            <a:r>
              <a:rPr lang="en-US" b="1" dirty="0"/>
              <a:t>Low Power, High Interest (Keep Informed):</a:t>
            </a:r>
            <a:r>
              <a:rPr lang="en-US" dirty="0"/>
              <a:t> End-users and operational staff who will use the new system daily. They require regular progress newsletters, Q&amp;A sessions, and user </a:t>
            </a:r>
            <a:r>
              <a:rPr lang="en-US" dirty="0" smtClean="0"/>
              <a:t>guides.</a:t>
            </a:r>
          </a:p>
          <a:p>
            <a:r>
              <a:rPr lang="en-US" b="1" dirty="0"/>
              <a:t>Low Power, Low Interest (Monitor):</a:t>
            </a:r>
            <a:r>
              <a:rPr lang="en-US" dirty="0"/>
              <a:t> Teams with peripheral involvement. They only require minimal monitoring and standard, passive updates via shared project boards.</a:t>
            </a:r>
            <a:r>
              <a:rPr lang="en-US" dirty="0"/>
              <a:t> </a:t>
            </a:r>
          </a:p>
          <a:p>
            <a:pPr>
              <a:buFont typeface="Wingdings" panose="05000000000000000000" pitchFamily="2" charset="2"/>
              <a:buChar char="v"/>
            </a:pPr>
            <a:r>
              <a:rPr lang="en-US" b="1" u="sng" dirty="0"/>
              <a:t>Engagement and Communication </a:t>
            </a:r>
            <a:r>
              <a:rPr lang="en-US" b="1" u="sng" dirty="0" smtClean="0"/>
              <a:t>Strategies:- </a:t>
            </a:r>
            <a:r>
              <a:rPr lang="en-US" dirty="0"/>
              <a:t>Tailoring communication styles prevents project friction and ensures smooth </a:t>
            </a:r>
            <a:r>
              <a:rPr lang="en-US" dirty="0" smtClean="0"/>
              <a:t>execution.</a:t>
            </a:r>
          </a:p>
          <a:p>
            <a:r>
              <a:rPr lang="en-US" b="1" dirty="0"/>
              <a:t>Requirement Alignment:</a:t>
            </a:r>
            <a:r>
              <a:rPr lang="en-US" dirty="0"/>
              <a:t> Running structured workshops to uncover conflicting demands between departments and facilitating compromise</a:t>
            </a:r>
            <a:r>
              <a:rPr lang="en-US" dirty="0" smtClean="0"/>
              <a:t>.</a:t>
            </a:r>
          </a:p>
          <a:p>
            <a:r>
              <a:rPr lang="en-US" b="1" dirty="0"/>
              <a:t>Conflict Resolution:</a:t>
            </a:r>
            <a:r>
              <a:rPr lang="en-US" dirty="0"/>
              <a:t> Managing pushback from teams resistant to adopting new software or changing their established workflows</a:t>
            </a:r>
            <a:r>
              <a:rPr lang="en-US" dirty="0" smtClean="0"/>
              <a:t>.</a:t>
            </a:r>
          </a:p>
          <a:p>
            <a:r>
              <a:rPr lang="en-US" b="1" dirty="0"/>
              <a:t>Transparency:</a:t>
            </a:r>
            <a:r>
              <a:rPr lang="en-US" dirty="0"/>
              <a:t> Providing honest updates regarding timeline delays or technical constraints to maintain long-term corporate trust</a:t>
            </a:r>
            <a:r>
              <a:rPr lang="en-US" dirty="0" smtClean="0"/>
              <a:t>.</a:t>
            </a:r>
          </a:p>
          <a:p>
            <a:endParaRPr lang="en-US" dirty="0"/>
          </a:p>
          <a:p>
            <a:pPr>
              <a:buFont typeface="Wingdings" panose="05000000000000000000" pitchFamily="2" charset="2"/>
              <a:buChar char="q"/>
            </a:pPr>
            <a:r>
              <a:rPr lang="en-US" i="1" dirty="0" smtClean="0"/>
              <a:t>Distinguishing Raw Data from Processed Information</a:t>
            </a:r>
            <a:endParaRPr lang="en-US" dirty="0" smtClean="0"/>
          </a:p>
          <a:p>
            <a:pPr marL="0" indent="0">
              <a:buNone/>
            </a:pPr>
            <a:r>
              <a:rPr lang="en-US" dirty="0"/>
              <a:t>Raw data is the unorganized input, while processed information is the meaningful </a:t>
            </a:r>
            <a:r>
              <a:rPr lang="en-US" dirty="0" smtClean="0"/>
              <a:t>output.</a:t>
            </a:r>
            <a:endParaRPr lang="en-US" i="1" dirty="0"/>
          </a:p>
        </p:txBody>
      </p:sp>
    </p:spTree>
    <p:extLst>
      <p:ext uri="{BB962C8B-B14F-4D97-AF65-F5344CB8AC3E}">
        <p14:creationId xmlns:p14="http://schemas.microsoft.com/office/powerpoint/2010/main" val="229765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7976" y="-1280890"/>
            <a:ext cx="8911687" cy="1280890"/>
          </a:xfrm>
        </p:spPr>
        <p:txBody>
          <a:bodyPr/>
          <a:lstStyle/>
          <a:p>
            <a:endParaRPr lang="en-US" dirty="0"/>
          </a:p>
        </p:txBody>
      </p:sp>
      <p:sp>
        <p:nvSpPr>
          <p:cNvPr id="3" name="Content Placeholder 2"/>
          <p:cNvSpPr>
            <a:spLocks noGrp="1"/>
          </p:cNvSpPr>
          <p:nvPr>
            <p:ph idx="1"/>
          </p:nvPr>
        </p:nvSpPr>
        <p:spPr>
          <a:xfrm>
            <a:off x="1792377" y="278673"/>
            <a:ext cx="10055633" cy="6409509"/>
          </a:xfrm>
        </p:spPr>
        <p:txBody>
          <a:bodyPr/>
          <a:lstStyle/>
          <a:p>
            <a:pPr>
              <a:buFont typeface="Wingdings" panose="05000000000000000000" pitchFamily="2" charset="2"/>
              <a:buChar char="Ø"/>
            </a:pPr>
            <a:r>
              <a:rPr lang="en-US" b="1" i="1" dirty="0"/>
              <a:t>Definition and </a:t>
            </a:r>
            <a:r>
              <a:rPr lang="en-US" b="1" i="1" dirty="0" smtClean="0"/>
              <a:t>State:-</a:t>
            </a:r>
          </a:p>
          <a:p>
            <a:pPr>
              <a:buFont typeface="Wingdings" panose="05000000000000000000" pitchFamily="2" charset="2"/>
              <a:buChar char="ü"/>
            </a:pPr>
            <a:r>
              <a:rPr lang="en-US" b="1" dirty="0"/>
              <a:t>Raw Data:</a:t>
            </a:r>
            <a:r>
              <a:rPr lang="en-US" dirty="0"/>
              <a:t> Unanalyzed facts, numbers, symbols, or observations in their native form</a:t>
            </a:r>
            <a:r>
              <a:rPr lang="en-US" dirty="0" smtClean="0"/>
              <a:t>.</a:t>
            </a:r>
          </a:p>
          <a:p>
            <a:pPr>
              <a:buFont typeface="Wingdings" panose="05000000000000000000" pitchFamily="2" charset="2"/>
              <a:buChar char="ü"/>
            </a:pPr>
            <a:r>
              <a:rPr lang="en-US" b="1" dirty="0"/>
              <a:t>Processed Information:</a:t>
            </a:r>
            <a:r>
              <a:rPr lang="en-US" dirty="0"/>
              <a:t> Cleaned, structured, and interpreted data placed into a specific context.</a:t>
            </a:r>
            <a:r>
              <a:rPr lang="en-US" dirty="0"/>
              <a:t> </a:t>
            </a:r>
          </a:p>
          <a:p>
            <a:pPr>
              <a:buFont typeface="Wingdings" panose="05000000000000000000" pitchFamily="2" charset="2"/>
              <a:buChar char="Ø"/>
            </a:pPr>
            <a:r>
              <a:rPr lang="en-US" b="1" i="1" dirty="0"/>
              <a:t>Usability and </a:t>
            </a:r>
            <a:r>
              <a:rPr lang="en-US" b="1" i="1" dirty="0" smtClean="0"/>
              <a:t>Value:-</a:t>
            </a:r>
            <a:endParaRPr lang="en-US" dirty="0" smtClean="0"/>
          </a:p>
          <a:p>
            <a:pPr>
              <a:buFont typeface="Wingdings" panose="05000000000000000000" pitchFamily="2" charset="2"/>
              <a:buChar char="ü"/>
            </a:pPr>
            <a:r>
              <a:rPr lang="en-US" b="1" dirty="0"/>
              <a:t>Raw Data:</a:t>
            </a:r>
            <a:r>
              <a:rPr lang="en-US" dirty="0"/>
              <a:t> Low immediate value because it is difficult for humans to understand or act upon without context</a:t>
            </a:r>
            <a:r>
              <a:rPr lang="en-US" dirty="0" smtClean="0"/>
              <a:t>.</a:t>
            </a:r>
          </a:p>
          <a:p>
            <a:pPr>
              <a:buFont typeface="Wingdings" panose="05000000000000000000" pitchFamily="2" charset="2"/>
              <a:buChar char="ü"/>
            </a:pPr>
            <a:r>
              <a:rPr lang="en-US" b="1" dirty="0"/>
              <a:t>Processed Information:</a:t>
            </a:r>
            <a:r>
              <a:rPr lang="en-US" dirty="0"/>
              <a:t> High immediate value because it is clear, actionable, and directly supports business decisions</a:t>
            </a:r>
            <a:r>
              <a:rPr lang="en-US" dirty="0" smtClean="0"/>
              <a:t>.</a:t>
            </a:r>
          </a:p>
          <a:p>
            <a:pPr>
              <a:buFont typeface="Wingdings" panose="05000000000000000000" pitchFamily="2" charset="2"/>
              <a:buChar char="Ø"/>
            </a:pPr>
            <a:r>
              <a:rPr lang="en-US" b="1" i="1" dirty="0"/>
              <a:t>Enterprise </a:t>
            </a:r>
            <a:r>
              <a:rPr lang="en-US" b="1" i="1" dirty="0" smtClean="0"/>
              <a:t>Example:-</a:t>
            </a:r>
          </a:p>
          <a:p>
            <a:pPr>
              <a:buFont typeface="Wingdings" panose="05000000000000000000" pitchFamily="2" charset="2"/>
              <a:buChar char="ü"/>
            </a:pPr>
            <a:r>
              <a:rPr lang="en-US" b="1" dirty="0"/>
              <a:t>Raw Data:</a:t>
            </a:r>
            <a:r>
              <a:rPr lang="en-US" dirty="0"/>
              <a:t> A server log showing a list of numbers</a:t>
            </a:r>
            <a:r>
              <a:rPr lang="en-US" dirty="0" smtClean="0"/>
              <a:t>: 14:02 , 192.168.1.1 , 404 , 404 , 404 .</a:t>
            </a:r>
          </a:p>
          <a:p>
            <a:pPr>
              <a:buFont typeface="Wingdings" panose="05000000000000000000" pitchFamily="2" charset="2"/>
              <a:buChar char="ü"/>
            </a:pPr>
            <a:r>
              <a:rPr lang="en-US" b="1" dirty="0"/>
              <a:t>Processed Information:</a:t>
            </a:r>
            <a:r>
              <a:rPr lang="en-US" dirty="0"/>
              <a:t> An analytics dashboard alert stating: </a:t>
            </a:r>
            <a:r>
              <a:rPr lang="en-US" i="1" dirty="0"/>
              <a:t>"The e-commerce checkout page crashed four times at 2:02 PM due to a server connection error."</a:t>
            </a:r>
            <a:endParaRPr lang="en-US" dirty="0"/>
          </a:p>
        </p:txBody>
      </p:sp>
    </p:spTree>
    <p:extLst>
      <p:ext uri="{BB962C8B-B14F-4D97-AF65-F5344CB8AC3E}">
        <p14:creationId xmlns:p14="http://schemas.microsoft.com/office/powerpoint/2010/main" val="3741279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479" y="-1280890"/>
            <a:ext cx="8911687" cy="1280890"/>
          </a:xfrm>
        </p:spPr>
        <p:txBody>
          <a:bodyPr/>
          <a:lstStyle/>
          <a:p>
            <a:endParaRPr lang="en-US" dirty="0"/>
          </a:p>
        </p:txBody>
      </p:sp>
      <p:sp>
        <p:nvSpPr>
          <p:cNvPr id="3" name="Content Placeholder 2"/>
          <p:cNvSpPr>
            <a:spLocks noGrp="1"/>
          </p:cNvSpPr>
          <p:nvPr>
            <p:ph idx="1"/>
          </p:nvPr>
        </p:nvSpPr>
        <p:spPr>
          <a:xfrm>
            <a:off x="1727063" y="278674"/>
            <a:ext cx="10055633" cy="6370320"/>
          </a:xfrm>
        </p:spPr>
        <p:txBody>
          <a:bodyPr/>
          <a:lstStyle/>
          <a:p>
            <a:pPr>
              <a:buFont typeface="Wingdings" panose="05000000000000000000" pitchFamily="2" charset="2"/>
              <a:buChar char="q"/>
            </a:pPr>
            <a:r>
              <a:rPr lang="en-US" i="1" dirty="0" smtClean="0"/>
              <a:t>The Transformation Process: Data to Information to Knowledge</a:t>
            </a:r>
          </a:p>
          <a:p>
            <a:pPr marL="0" indent="0">
              <a:buNone/>
            </a:pPr>
            <a:r>
              <a:rPr lang="en-US" dirty="0"/>
              <a:t>The transformation of data into information and then into knowledge </a:t>
            </a:r>
            <a:r>
              <a:rPr lang="en-US" dirty="0"/>
              <a:t>follows the </a:t>
            </a:r>
            <a:r>
              <a:rPr lang="en-US" b="1" dirty="0"/>
              <a:t>DIKW Pyramid</a:t>
            </a:r>
            <a:r>
              <a:rPr lang="en-US" dirty="0"/>
              <a:t> (Data, Information, Knowledge, Wisdom) framework, where raw inputs are progressively refined to add value, context, and actionable intelligence</a:t>
            </a:r>
            <a:r>
              <a:rPr lang="en-US" dirty="0" smtClean="0"/>
              <a:t>.</a:t>
            </a:r>
          </a:p>
          <a:p>
            <a:pPr>
              <a:buFont typeface="Wingdings" panose="05000000000000000000" pitchFamily="2" charset="2"/>
              <a:buChar char="Ø"/>
            </a:pPr>
            <a:r>
              <a:rPr lang="en-US" b="1" i="1" dirty="0"/>
              <a:t>Data (The Raw Material</a:t>
            </a:r>
            <a:r>
              <a:rPr lang="en-US" b="1" i="1" dirty="0" smtClean="0"/>
              <a:t>): </a:t>
            </a:r>
            <a:r>
              <a:rPr lang="en-US" dirty="0"/>
              <a:t>Data represents unorganized, unanalyzed facts, numbers, or symbols without any context. It is the objective representation of reality but lacks a narrative or purpose</a:t>
            </a:r>
            <a:r>
              <a:rPr lang="en-US" dirty="0" smtClean="0"/>
              <a:t>.</a:t>
            </a:r>
          </a:p>
          <a:p>
            <a:pPr>
              <a:buFont typeface="Arial" panose="020B0604020202020204" pitchFamily="34" charset="0"/>
              <a:buChar char="•"/>
            </a:pPr>
            <a:r>
              <a:rPr lang="en-US" b="1" dirty="0"/>
              <a:t>Characteristics:</a:t>
            </a:r>
            <a:r>
              <a:rPr lang="en-US" dirty="0"/>
              <a:t> Discrete, objective, and meaningless on its own</a:t>
            </a:r>
            <a:r>
              <a:rPr lang="en-US" dirty="0" smtClean="0"/>
              <a:t>.</a:t>
            </a:r>
          </a:p>
          <a:p>
            <a:pPr>
              <a:buFont typeface="Arial" panose="020B0604020202020204" pitchFamily="34" charset="0"/>
              <a:buChar char="•"/>
            </a:pPr>
            <a:r>
              <a:rPr lang="en-US" b="1" dirty="0"/>
              <a:t>Transformation Step:</a:t>
            </a:r>
            <a:r>
              <a:rPr lang="en-US" dirty="0"/>
              <a:t> To move to the next stage, data must be </a:t>
            </a:r>
            <a:r>
              <a:rPr lang="en-US" b="1" dirty="0"/>
              <a:t>contextualized, cleaned, categorized, and calculated</a:t>
            </a:r>
            <a:r>
              <a:rPr lang="en-US" dirty="0" smtClean="0"/>
              <a:t>.</a:t>
            </a:r>
          </a:p>
          <a:p>
            <a:pPr>
              <a:buFont typeface="Arial" panose="020B0604020202020204" pitchFamily="34" charset="0"/>
              <a:buChar char="•"/>
            </a:pPr>
            <a:r>
              <a:rPr lang="en-US" b="1" dirty="0"/>
              <a:t>Example:</a:t>
            </a:r>
            <a:r>
              <a:rPr lang="en-US" dirty="0"/>
              <a:t> A raw text file containing a list of numbers</a:t>
            </a:r>
            <a:r>
              <a:rPr lang="en-US" dirty="0" smtClean="0"/>
              <a:t>: 100 , 150 , 80 , 200 .</a:t>
            </a:r>
          </a:p>
          <a:p>
            <a:pPr>
              <a:buFont typeface="Wingdings" panose="05000000000000000000" pitchFamily="2" charset="2"/>
              <a:buChar char="Ø"/>
            </a:pPr>
            <a:r>
              <a:rPr lang="en-US" b="1" i="1" dirty="0"/>
              <a:t>Information (The Structured Narrative</a:t>
            </a:r>
            <a:r>
              <a:rPr lang="en-US" b="1" i="1" dirty="0" smtClean="0"/>
              <a:t>): </a:t>
            </a:r>
            <a:r>
              <a:rPr lang="en-US" dirty="0"/>
              <a:t>Information is data that has been processed, structured, and given context so that it becomes meaningful to a human observer. It answers the questions of </a:t>
            </a:r>
            <a:r>
              <a:rPr lang="en-US" i="1" dirty="0"/>
              <a:t>"who," "what," "where,"</a:t>
            </a:r>
            <a:r>
              <a:rPr lang="en-US" dirty="0"/>
              <a:t> and </a:t>
            </a:r>
            <a:r>
              <a:rPr lang="en-US" i="1" dirty="0"/>
              <a:t>"when</a:t>
            </a:r>
            <a:r>
              <a:rPr lang="en-US" i="1" dirty="0" smtClean="0"/>
              <a:t>.“</a:t>
            </a:r>
          </a:p>
          <a:p>
            <a:pPr>
              <a:buFont typeface="Arial" panose="020B0604020202020204" pitchFamily="34" charset="0"/>
              <a:buChar char="•"/>
            </a:pPr>
            <a:r>
              <a:rPr lang="en-US" b="1" dirty="0"/>
              <a:t>Characteristics:</a:t>
            </a:r>
            <a:r>
              <a:rPr lang="en-US" dirty="0"/>
              <a:t> Organized, formatted, and understandable</a:t>
            </a:r>
            <a:r>
              <a:rPr lang="en-US" dirty="0" smtClean="0"/>
              <a:t>.</a:t>
            </a:r>
          </a:p>
          <a:p>
            <a:pPr>
              <a:buFont typeface="Arial" panose="020B0604020202020204" pitchFamily="34" charset="0"/>
              <a:buChar char="•"/>
            </a:pPr>
            <a:r>
              <a:rPr lang="en-US" b="1" dirty="0"/>
              <a:t>Transformation Step:</a:t>
            </a:r>
            <a:r>
              <a:rPr lang="en-US" dirty="0"/>
              <a:t> To move to the next stage, information must be </a:t>
            </a:r>
            <a:r>
              <a:rPr lang="en-US" b="1" dirty="0"/>
              <a:t>connected, compared, and integrated</a:t>
            </a:r>
            <a:r>
              <a:rPr lang="en-US" dirty="0"/>
              <a:t> with human experience, patterns, and operational realities.</a:t>
            </a:r>
            <a:r>
              <a:rPr lang="en-US" dirty="0"/>
              <a:t> </a:t>
            </a:r>
          </a:p>
        </p:txBody>
      </p:sp>
    </p:spTree>
    <p:extLst>
      <p:ext uri="{BB962C8B-B14F-4D97-AF65-F5344CB8AC3E}">
        <p14:creationId xmlns:p14="http://schemas.microsoft.com/office/powerpoint/2010/main" val="3203922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473" y="-1280890"/>
            <a:ext cx="8911687" cy="1280890"/>
          </a:xfrm>
        </p:spPr>
        <p:txBody>
          <a:bodyPr/>
          <a:lstStyle/>
          <a:p>
            <a:endParaRPr lang="en-US" dirty="0"/>
          </a:p>
        </p:txBody>
      </p:sp>
      <p:sp>
        <p:nvSpPr>
          <p:cNvPr id="3" name="Content Placeholder 2"/>
          <p:cNvSpPr>
            <a:spLocks noGrp="1"/>
          </p:cNvSpPr>
          <p:nvPr>
            <p:ph idx="1"/>
          </p:nvPr>
        </p:nvSpPr>
        <p:spPr>
          <a:xfrm>
            <a:off x="1779314" y="291737"/>
            <a:ext cx="10016446" cy="6278880"/>
          </a:xfrm>
        </p:spPr>
        <p:txBody>
          <a:bodyPr/>
          <a:lstStyle/>
          <a:p>
            <a:pPr>
              <a:buFont typeface="Arial" panose="020B0604020202020204" pitchFamily="34" charset="0"/>
              <a:buChar char="•"/>
            </a:pPr>
            <a:r>
              <a:rPr lang="en-US" b="1" dirty="0"/>
              <a:t>Example:</a:t>
            </a:r>
            <a:r>
              <a:rPr lang="en-US" dirty="0"/>
              <a:t> Connecting the raw numbers to a specific context: </a:t>
            </a:r>
            <a:r>
              <a:rPr lang="en-US" i="1" dirty="0"/>
              <a:t>"These numbers represent the units of product sales per day over the last four days</a:t>
            </a:r>
            <a:r>
              <a:rPr lang="en-US" i="1" dirty="0" smtClean="0"/>
              <a:t>.“</a:t>
            </a:r>
          </a:p>
          <a:p>
            <a:pPr>
              <a:buFont typeface="Wingdings" panose="05000000000000000000" pitchFamily="2" charset="2"/>
              <a:buChar char="Ø"/>
            </a:pPr>
            <a:r>
              <a:rPr lang="en-US" b="1" i="1" dirty="0"/>
              <a:t>Knowledge (The Actionable Intelligence</a:t>
            </a:r>
            <a:r>
              <a:rPr lang="en-US" b="1" i="1" dirty="0" smtClean="0"/>
              <a:t>):</a:t>
            </a:r>
            <a:r>
              <a:rPr lang="en-US" dirty="0"/>
              <a:t> Knowledge is the application of information. It combines structured information with human experience, critical thinking, and skills to make decisions or solve problems. It answers the question of </a:t>
            </a:r>
            <a:r>
              <a:rPr lang="en-US" i="1" dirty="0"/>
              <a:t>"how</a:t>
            </a:r>
            <a:r>
              <a:rPr lang="en-US" i="1" dirty="0" smtClean="0"/>
              <a:t>.“</a:t>
            </a:r>
          </a:p>
          <a:p>
            <a:pPr>
              <a:buFont typeface="Arial" panose="020B0604020202020204" pitchFamily="34" charset="0"/>
              <a:buChar char="•"/>
            </a:pPr>
            <a:r>
              <a:rPr lang="en-US" b="1" dirty="0"/>
              <a:t>Characteristics:</a:t>
            </a:r>
            <a:r>
              <a:rPr lang="en-US" dirty="0"/>
              <a:t> Subjective, actionable, and based on learning or experience</a:t>
            </a:r>
            <a:r>
              <a:rPr lang="en-US" dirty="0" smtClean="0"/>
              <a:t>.</a:t>
            </a:r>
          </a:p>
          <a:p>
            <a:pPr>
              <a:buFont typeface="Arial" panose="020B0604020202020204" pitchFamily="34" charset="0"/>
              <a:buChar char="•"/>
            </a:pPr>
            <a:r>
              <a:rPr lang="en-US" b="1" dirty="0"/>
              <a:t>Example:</a:t>
            </a:r>
            <a:r>
              <a:rPr lang="en-US" dirty="0"/>
              <a:t> </a:t>
            </a:r>
            <a:r>
              <a:rPr lang="en-US" i="1" dirty="0"/>
              <a:t>"Sales dropped to 80 units on day three because our delivery truck broke down, which means we need a backup logistics vendor to prevent future </a:t>
            </a:r>
            <a:r>
              <a:rPr lang="en-US" i="1" dirty="0" err="1"/>
              <a:t>stockouts</a:t>
            </a:r>
            <a:r>
              <a:rPr lang="en-US" i="1" dirty="0" smtClean="0"/>
              <a:t>.“</a:t>
            </a:r>
          </a:p>
          <a:p>
            <a:pPr>
              <a:buFont typeface="Arial" panose="020B0604020202020204" pitchFamily="34" charset="0"/>
              <a:buChar char="•"/>
            </a:pPr>
            <a:endParaRPr lang="en-US" i="1" dirty="0"/>
          </a:p>
          <a:p>
            <a:pPr>
              <a:buFont typeface="Wingdings" panose="05000000000000000000" pitchFamily="2" charset="2"/>
              <a:buChar char="q"/>
            </a:pPr>
            <a:r>
              <a:rPr lang="en-US" i="1" dirty="0" smtClean="0"/>
              <a:t>Value of Information in Decision Making</a:t>
            </a:r>
          </a:p>
          <a:p>
            <a:pPr marL="0" indent="0">
              <a:buNone/>
            </a:pPr>
            <a:r>
              <a:rPr lang="en-US" dirty="0"/>
              <a:t>The </a:t>
            </a:r>
            <a:r>
              <a:rPr lang="en-US" b="1" dirty="0"/>
              <a:t>Value of Information (</a:t>
            </a:r>
            <a:r>
              <a:rPr lang="en-US" b="1" dirty="0" err="1"/>
              <a:t>VoI</a:t>
            </a:r>
            <a:r>
              <a:rPr lang="en-US" b="1" dirty="0"/>
              <a:t>)</a:t>
            </a:r>
            <a:r>
              <a:rPr lang="en-US" dirty="0"/>
              <a:t> in decision-making is defined as the maximum amount a business leader should be willing to pay for additional data before making a choice. Information has value only if it can alter a decision and lead to a better financial or operational outcome than would have been achieved without it</a:t>
            </a:r>
            <a:r>
              <a:rPr lang="en-US" dirty="0" smtClean="0"/>
              <a:t>.</a:t>
            </a:r>
          </a:p>
          <a:p>
            <a:pPr>
              <a:buFont typeface="Wingdings" panose="05000000000000000000" pitchFamily="2" charset="2"/>
              <a:buChar char="Ø"/>
            </a:pPr>
            <a:r>
              <a:rPr lang="en-US" b="1" i="1" dirty="0"/>
              <a:t>Reducing Uncertainty and </a:t>
            </a:r>
            <a:r>
              <a:rPr lang="en-US" b="1" i="1" dirty="0" smtClean="0"/>
              <a:t>Risk:- </a:t>
            </a:r>
            <a:r>
              <a:rPr lang="en-US" dirty="0"/>
              <a:t>At its core, information transforms speculative gambles into calculated risks.</a:t>
            </a:r>
            <a:endParaRPr lang="en-US" b="1" i="1" dirty="0"/>
          </a:p>
        </p:txBody>
      </p:sp>
    </p:spTree>
    <p:extLst>
      <p:ext uri="{BB962C8B-B14F-4D97-AF65-F5344CB8AC3E}">
        <p14:creationId xmlns:p14="http://schemas.microsoft.com/office/powerpoint/2010/main" val="1195827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9234" y="-1280890"/>
            <a:ext cx="8911687" cy="1280890"/>
          </a:xfrm>
        </p:spPr>
        <p:txBody>
          <a:bodyPr/>
          <a:lstStyle/>
          <a:p>
            <a:endParaRPr lang="en-US" dirty="0"/>
          </a:p>
        </p:txBody>
      </p:sp>
      <p:sp>
        <p:nvSpPr>
          <p:cNvPr id="3" name="Content Placeholder 2"/>
          <p:cNvSpPr>
            <a:spLocks noGrp="1"/>
          </p:cNvSpPr>
          <p:nvPr>
            <p:ph idx="1"/>
          </p:nvPr>
        </p:nvSpPr>
        <p:spPr>
          <a:xfrm>
            <a:off x="1923006" y="474617"/>
            <a:ext cx="9716000" cy="6383383"/>
          </a:xfrm>
        </p:spPr>
        <p:txBody>
          <a:bodyPr>
            <a:normAutofit lnSpcReduction="10000"/>
          </a:bodyPr>
          <a:lstStyle/>
          <a:p>
            <a:r>
              <a:rPr lang="en-US" b="1" dirty="0"/>
              <a:t>Quantifying Variables:</a:t>
            </a:r>
            <a:r>
              <a:rPr lang="en-US" dirty="0"/>
              <a:t> It replaces guesses with concrete probabilities regarding market demand, competitor moves, or economic shifts</a:t>
            </a:r>
            <a:r>
              <a:rPr lang="en-US" dirty="0" smtClean="0"/>
              <a:t>.</a:t>
            </a:r>
          </a:p>
          <a:p>
            <a:r>
              <a:rPr lang="en-US" b="1" dirty="0"/>
              <a:t>Downside Protection:</a:t>
            </a:r>
            <a:r>
              <a:rPr lang="en-US" dirty="0"/>
              <a:t> Accurate data helps executives spot potential pitfalls early, preventing expensive failures like launching a product in a saturated market</a:t>
            </a:r>
            <a:r>
              <a:rPr lang="en-US" dirty="0" smtClean="0"/>
              <a:t>.</a:t>
            </a:r>
          </a:p>
          <a:p>
            <a:pPr>
              <a:buFont typeface="Wingdings" panose="05000000000000000000" pitchFamily="2" charset="2"/>
              <a:buChar char="Ø"/>
            </a:pPr>
            <a:r>
              <a:rPr lang="en-US" b="1" i="1" dirty="0"/>
              <a:t>Optimizing Resource </a:t>
            </a:r>
            <a:r>
              <a:rPr lang="en-US" b="1" i="1" dirty="0" smtClean="0"/>
              <a:t>Allocation:- </a:t>
            </a:r>
            <a:r>
              <a:rPr lang="en-US" dirty="0"/>
              <a:t>Information ensures that limited enterprise resources—capital, time, and human talent—are directed toward the highest-return activities</a:t>
            </a:r>
            <a:r>
              <a:rPr lang="en-US" dirty="0" smtClean="0"/>
              <a:t>.</a:t>
            </a:r>
          </a:p>
          <a:p>
            <a:r>
              <a:rPr lang="en-US" b="1" dirty="0"/>
              <a:t>Eliminating Guesswork:</a:t>
            </a:r>
            <a:r>
              <a:rPr lang="en-US" dirty="0"/>
              <a:t> Instead of spreading budgets evenly across all departments, data tells managers exactly which products or regions yield the highest profit margins</a:t>
            </a:r>
            <a:r>
              <a:rPr lang="en-US" dirty="0" smtClean="0"/>
              <a:t>.</a:t>
            </a:r>
          </a:p>
          <a:p>
            <a:r>
              <a:rPr lang="en-US" b="1" dirty="0"/>
              <a:t>Operational Efficiency:</a:t>
            </a:r>
            <a:r>
              <a:rPr lang="en-US" dirty="0"/>
              <a:t> Real-time logistics information prevents over-manufacturing and minimizes storage costs by matching production exactly to consumer demand</a:t>
            </a:r>
            <a:r>
              <a:rPr lang="en-US" dirty="0" smtClean="0"/>
              <a:t>.</a:t>
            </a:r>
          </a:p>
          <a:p>
            <a:pPr>
              <a:buFont typeface="Wingdings" panose="05000000000000000000" pitchFamily="2" charset="2"/>
              <a:buChar char="Ø"/>
            </a:pPr>
            <a:r>
              <a:rPr lang="en-US" b="1" i="1" dirty="0"/>
              <a:t>Improving Decision Quality and </a:t>
            </a:r>
            <a:r>
              <a:rPr lang="en-US" b="1" i="1" dirty="0" smtClean="0"/>
              <a:t>Speed:- </a:t>
            </a:r>
            <a:r>
              <a:rPr lang="en-US" dirty="0"/>
              <a:t>Having the right information at the right time allows organizations to act faster and with higher confidence</a:t>
            </a:r>
            <a:r>
              <a:rPr lang="en-US" dirty="0" smtClean="0"/>
              <a:t>.</a:t>
            </a:r>
          </a:p>
          <a:p>
            <a:r>
              <a:rPr lang="en-US" b="1" dirty="0"/>
              <a:t>Competitive Advantage:</a:t>
            </a:r>
            <a:r>
              <a:rPr lang="en-US" dirty="0"/>
              <a:t> First-mover advantage belongs to companies that process data quickly to identify emerging consumer trends before their competitors do</a:t>
            </a:r>
            <a:r>
              <a:rPr lang="en-US" dirty="0" smtClean="0"/>
              <a:t>.</a:t>
            </a:r>
          </a:p>
          <a:p>
            <a:r>
              <a:rPr lang="en-US" b="1" dirty="0"/>
              <a:t>Objective Baseline:</a:t>
            </a:r>
            <a:r>
              <a:rPr lang="en-US" dirty="0"/>
              <a:t> It removes emotional biases, office politics, and gut-feeling arguments from executive meetings, grounding strategies in verifiable facts.</a:t>
            </a:r>
          </a:p>
        </p:txBody>
      </p:sp>
    </p:spTree>
    <p:extLst>
      <p:ext uri="{BB962C8B-B14F-4D97-AF65-F5344CB8AC3E}">
        <p14:creationId xmlns:p14="http://schemas.microsoft.com/office/powerpoint/2010/main" val="4013078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0228" y="-1280890"/>
            <a:ext cx="8911687" cy="1280890"/>
          </a:xfrm>
        </p:spPr>
        <p:txBody>
          <a:bodyPr/>
          <a:lstStyle/>
          <a:p>
            <a:endParaRPr lang="en-US" dirty="0"/>
          </a:p>
        </p:txBody>
      </p:sp>
      <p:sp>
        <p:nvSpPr>
          <p:cNvPr id="3" name="Content Placeholder 2"/>
          <p:cNvSpPr>
            <a:spLocks noGrp="1"/>
          </p:cNvSpPr>
          <p:nvPr>
            <p:ph idx="1"/>
          </p:nvPr>
        </p:nvSpPr>
        <p:spPr>
          <a:xfrm>
            <a:off x="1621151" y="592182"/>
            <a:ext cx="10149840" cy="6370320"/>
          </a:xfrm>
        </p:spPr>
        <p:txBody>
          <a:bodyPr/>
          <a:lstStyle/>
          <a:p>
            <a:pPr>
              <a:buFont typeface="Wingdings" panose="05000000000000000000" pitchFamily="2" charset="2"/>
              <a:buChar char="q"/>
            </a:pPr>
            <a:r>
              <a:rPr lang="en-US" i="1" dirty="0" smtClean="0"/>
              <a:t>Principles of Data – Driven Decision Making</a:t>
            </a:r>
          </a:p>
          <a:p>
            <a:pPr marL="0" indent="0">
              <a:buNone/>
            </a:pPr>
            <a:r>
              <a:rPr lang="en-US" b="1" dirty="0"/>
              <a:t>Data-Driven Decision Making (DDDM)</a:t>
            </a:r>
            <a:r>
              <a:rPr lang="en-US" dirty="0"/>
              <a:t> is the practice of aligning business strategies and daily operations with verified data insights rather than relying solely on intuition, gut feelings, or personal experience</a:t>
            </a:r>
            <a:r>
              <a:rPr lang="en-US" dirty="0" smtClean="0"/>
              <a:t>.</a:t>
            </a:r>
          </a:p>
          <a:p>
            <a:pPr>
              <a:buFont typeface="Wingdings" panose="05000000000000000000" pitchFamily="2" charset="2"/>
              <a:buChar char="v"/>
            </a:pPr>
            <a:r>
              <a:rPr lang="en-US" b="1" i="1" dirty="0"/>
              <a:t>Data Accessibility and </a:t>
            </a:r>
            <a:r>
              <a:rPr lang="en-US" b="1" i="1" dirty="0" smtClean="0"/>
              <a:t>Transparency:- </a:t>
            </a:r>
            <a:r>
              <a:rPr lang="en-US" dirty="0"/>
              <a:t>Data must be easily reachable by the people who need it to perform their jobs.</a:t>
            </a:r>
          </a:p>
          <a:p>
            <a:pPr>
              <a:buFont typeface="Wingdings" panose="05000000000000000000" pitchFamily="2" charset="2"/>
              <a:buChar char="ü"/>
            </a:pPr>
            <a:r>
              <a:rPr lang="en-US" b="1" dirty="0"/>
              <a:t>Breaking Silos:</a:t>
            </a:r>
            <a:r>
              <a:rPr lang="en-US" dirty="0"/>
              <a:t> Centralizing information so that departments (like finance, sales, and HR) can see and cross-reference each other's metrics</a:t>
            </a:r>
            <a:r>
              <a:rPr lang="en-US" dirty="0" smtClean="0"/>
              <a:t>.</a:t>
            </a:r>
          </a:p>
          <a:p>
            <a:pPr>
              <a:buFont typeface="Wingdings" panose="05000000000000000000" pitchFamily="2" charset="2"/>
              <a:buChar char="ü"/>
            </a:pPr>
            <a:r>
              <a:rPr lang="en-US" b="1" dirty="0"/>
              <a:t>Self-Service Tools:</a:t>
            </a:r>
            <a:r>
              <a:rPr lang="en-US" dirty="0"/>
              <a:t> Providing intuitive dashboards (like Power BI or Tableau) so non-technical managers can query data without waiting for IT teams</a:t>
            </a:r>
            <a:r>
              <a:rPr lang="en-US" dirty="0" smtClean="0"/>
              <a:t>.</a:t>
            </a:r>
          </a:p>
          <a:p>
            <a:pPr>
              <a:buFont typeface="Wingdings" panose="05000000000000000000" pitchFamily="2" charset="2"/>
              <a:buChar char="v"/>
            </a:pPr>
            <a:r>
              <a:rPr lang="en-US" b="1" i="1" dirty="0"/>
              <a:t>Ensuring Data Quality and </a:t>
            </a:r>
            <a:r>
              <a:rPr lang="en-US" b="1" i="1" dirty="0" smtClean="0"/>
              <a:t>Governance:-</a:t>
            </a:r>
            <a:r>
              <a:rPr lang="en-US" dirty="0"/>
              <a:t>Decisions are only as good as the underlying data used to make them</a:t>
            </a:r>
            <a:r>
              <a:rPr lang="en-US" dirty="0" smtClean="0"/>
              <a:t>.</a:t>
            </a:r>
          </a:p>
          <a:p>
            <a:pPr>
              <a:buFont typeface="Wingdings" panose="05000000000000000000" pitchFamily="2" charset="2"/>
              <a:buChar char="ü"/>
            </a:pPr>
            <a:r>
              <a:rPr lang="en-US" b="1" dirty="0"/>
              <a:t>Single Source of Truth:</a:t>
            </a:r>
            <a:r>
              <a:rPr lang="en-US" dirty="0"/>
              <a:t> Establishing standardized definitions for key metrics (e.g., how "customer acquisition cost" is calculated) across the entire company</a:t>
            </a:r>
            <a:r>
              <a:rPr lang="en-US" dirty="0" smtClean="0"/>
              <a:t>.</a:t>
            </a:r>
          </a:p>
          <a:p>
            <a:pPr>
              <a:buFont typeface="Wingdings" panose="05000000000000000000" pitchFamily="2" charset="2"/>
              <a:buChar char="ü"/>
            </a:pPr>
            <a:r>
              <a:rPr lang="en-US" b="1" dirty="0"/>
              <a:t>Continuous Cleaning:</a:t>
            </a:r>
            <a:r>
              <a:rPr lang="en-US" dirty="0"/>
              <a:t> Implementing strict automated validation checks to eliminate duplicate, corrupted, or outdated entries.</a:t>
            </a:r>
          </a:p>
          <a:p>
            <a:pPr>
              <a:buFont typeface="Wingdings" panose="05000000000000000000" pitchFamily="2" charset="2"/>
              <a:buChar char="Ø"/>
            </a:pPr>
            <a:endParaRPr lang="en-US" b="1" i="1" dirty="0"/>
          </a:p>
        </p:txBody>
      </p:sp>
    </p:spTree>
    <p:extLst>
      <p:ext uri="{BB962C8B-B14F-4D97-AF65-F5344CB8AC3E}">
        <p14:creationId xmlns:p14="http://schemas.microsoft.com/office/powerpoint/2010/main" val="525668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6982" y="-1280890"/>
            <a:ext cx="8911687" cy="1280890"/>
          </a:xfrm>
        </p:spPr>
        <p:txBody>
          <a:bodyPr/>
          <a:lstStyle/>
          <a:p>
            <a:endParaRPr lang="en-US" dirty="0"/>
          </a:p>
        </p:txBody>
      </p:sp>
      <p:sp>
        <p:nvSpPr>
          <p:cNvPr id="3" name="Content Placeholder 2"/>
          <p:cNvSpPr>
            <a:spLocks noGrp="1"/>
          </p:cNvSpPr>
          <p:nvPr>
            <p:ph idx="1"/>
          </p:nvPr>
        </p:nvSpPr>
        <p:spPr>
          <a:xfrm>
            <a:off x="1870755" y="200297"/>
            <a:ext cx="9938068" cy="6344194"/>
          </a:xfrm>
        </p:spPr>
        <p:txBody>
          <a:bodyPr/>
          <a:lstStyle/>
          <a:p>
            <a:pPr>
              <a:buFont typeface="Wingdings" panose="05000000000000000000" pitchFamily="2" charset="2"/>
              <a:buChar char="v"/>
            </a:pPr>
            <a:r>
              <a:rPr lang="en-US" b="1" i="1" dirty="0"/>
              <a:t>Fostering a Data-Driven </a:t>
            </a:r>
            <a:r>
              <a:rPr lang="en-US" b="1" i="1" dirty="0" smtClean="0"/>
              <a:t>Culture:-</a:t>
            </a:r>
            <a:r>
              <a:rPr lang="en-US" dirty="0"/>
              <a:t> Technology alone is insufficient; the organization's mindset must evolve to prioritize evidence over status</a:t>
            </a:r>
            <a:r>
              <a:rPr lang="en-US" dirty="0" smtClean="0"/>
              <a:t>.</a:t>
            </a:r>
          </a:p>
          <a:p>
            <a:pPr>
              <a:buFont typeface="Wingdings" panose="05000000000000000000" pitchFamily="2" charset="2"/>
              <a:buChar char="ü"/>
            </a:pPr>
            <a:r>
              <a:rPr lang="en-US" b="1" dirty="0"/>
              <a:t>Evidence Over Hierarchy:</a:t>
            </a:r>
            <a:r>
              <a:rPr lang="en-US" dirty="0"/>
              <a:t> Encouraging a culture where data insights from junior staff can openly challenge the opinions of executive leadership</a:t>
            </a:r>
            <a:r>
              <a:rPr lang="en-US" dirty="0" smtClean="0"/>
              <a:t>.</a:t>
            </a:r>
          </a:p>
          <a:p>
            <a:pPr>
              <a:buFont typeface="Wingdings" panose="05000000000000000000" pitchFamily="2" charset="2"/>
              <a:buChar char="ü"/>
            </a:pPr>
            <a:r>
              <a:rPr lang="en-US" b="1" dirty="0"/>
              <a:t>Testing Mindset:</a:t>
            </a:r>
            <a:r>
              <a:rPr lang="en-US" dirty="0"/>
              <a:t> Embracing a philosophy of continuous experimentation, such as running regular A/B tests before launching new products or marketing campaigns</a:t>
            </a:r>
            <a:r>
              <a:rPr lang="en-US" dirty="0" smtClean="0"/>
              <a:t>.</a:t>
            </a:r>
          </a:p>
          <a:p>
            <a:pPr>
              <a:buFont typeface="Wingdings" panose="05000000000000000000" pitchFamily="2" charset="2"/>
              <a:buChar char="v"/>
            </a:pPr>
            <a:r>
              <a:rPr lang="en-US" b="1" i="1" dirty="0"/>
              <a:t>Direct Alignment with Business </a:t>
            </a:r>
            <a:r>
              <a:rPr lang="en-US" b="1" i="1" dirty="0" smtClean="0"/>
              <a:t>Strategy:-</a:t>
            </a:r>
            <a:r>
              <a:rPr lang="en-US" dirty="0"/>
              <a:t> Data collection must serve a clear operational purpose rather than just accumulating for its own </a:t>
            </a:r>
            <a:r>
              <a:rPr lang="en-US" dirty="0" smtClean="0"/>
              <a:t>sake.</a:t>
            </a:r>
          </a:p>
          <a:p>
            <a:pPr>
              <a:buFont typeface="Wingdings" panose="05000000000000000000" pitchFamily="2" charset="2"/>
              <a:buChar char="ü"/>
            </a:pPr>
            <a:r>
              <a:rPr lang="en-US" b="1" dirty="0"/>
              <a:t>Targeted Metrics:</a:t>
            </a:r>
            <a:r>
              <a:rPr lang="en-US" dirty="0"/>
              <a:t> Focusing strictly on actionable Key Performance Indicators (KPIs) that map directly to high-level company goals</a:t>
            </a:r>
            <a:r>
              <a:rPr lang="en-US" dirty="0" smtClean="0"/>
              <a:t>.</a:t>
            </a:r>
          </a:p>
          <a:p>
            <a:pPr>
              <a:buFont typeface="Wingdings" panose="05000000000000000000" pitchFamily="2" charset="2"/>
              <a:buChar char="ü"/>
            </a:pPr>
            <a:r>
              <a:rPr lang="en-US" b="1" dirty="0"/>
              <a:t>Avoiding Data Graveyards:</a:t>
            </a:r>
            <a:r>
              <a:rPr lang="en-US" dirty="0"/>
              <a:t> Avoiding the expensive habit of hoarding vast data lakes that do not actively contribute to operational improvements or </a:t>
            </a:r>
            <a:r>
              <a:rPr lang="en-US" dirty="0" smtClean="0"/>
              <a:t>revenue.</a:t>
            </a:r>
          </a:p>
          <a:p>
            <a:pPr>
              <a:buFont typeface="Wingdings" panose="05000000000000000000" pitchFamily="2" charset="2"/>
              <a:buChar char="v"/>
            </a:pPr>
            <a:r>
              <a:rPr lang="en-US" b="1" i="1" dirty="0"/>
              <a:t>Ethical Compliance and </a:t>
            </a:r>
            <a:r>
              <a:rPr lang="en-US" b="1" i="1" dirty="0" smtClean="0"/>
              <a:t>Privacy:-</a:t>
            </a:r>
            <a:r>
              <a:rPr lang="en-US" dirty="0"/>
              <a:t> Data handling must respect consumer boundaries and adhere to global legal frameworks</a:t>
            </a:r>
            <a:r>
              <a:rPr lang="en-US" dirty="0" smtClean="0"/>
              <a:t>.</a:t>
            </a:r>
          </a:p>
          <a:p>
            <a:pPr>
              <a:buFont typeface="Wingdings" panose="05000000000000000000" pitchFamily="2" charset="2"/>
              <a:buChar char="ü"/>
            </a:pPr>
            <a:r>
              <a:rPr lang="en-US" b="1" dirty="0"/>
              <a:t>Regulatory Adherence:</a:t>
            </a:r>
            <a:r>
              <a:rPr lang="en-US" dirty="0"/>
              <a:t> Ensuring all data pipelines comply with strict privacy laws such as GDPR, CCPA, or HIPAA</a:t>
            </a:r>
            <a:r>
              <a:rPr lang="en-US" dirty="0" smtClean="0"/>
              <a:t>.</a:t>
            </a:r>
          </a:p>
          <a:p>
            <a:pPr>
              <a:buFont typeface="Wingdings" panose="05000000000000000000" pitchFamily="2" charset="2"/>
              <a:buChar char="ü"/>
            </a:pPr>
            <a:r>
              <a:rPr lang="en-US" b="1" dirty="0"/>
              <a:t>Bias Mitigation:</a:t>
            </a:r>
            <a:r>
              <a:rPr lang="en-US" dirty="0"/>
              <a:t> Actively auditing algorithms and machine learning models to prevent discriminatory or skewed automated </a:t>
            </a:r>
            <a:r>
              <a:rPr lang="en-US" dirty="0" smtClean="0"/>
              <a:t>outcomes.</a:t>
            </a:r>
            <a:endParaRPr lang="en-US" dirty="0"/>
          </a:p>
        </p:txBody>
      </p:sp>
    </p:spTree>
    <p:extLst>
      <p:ext uri="{BB962C8B-B14F-4D97-AF65-F5344CB8AC3E}">
        <p14:creationId xmlns:p14="http://schemas.microsoft.com/office/powerpoint/2010/main" val="3991293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7165" y="-1280890"/>
            <a:ext cx="8911687" cy="1280890"/>
          </a:xfrm>
        </p:spPr>
        <p:txBody>
          <a:bodyPr/>
          <a:lstStyle/>
          <a:p>
            <a:endParaRPr lang="en-US" dirty="0"/>
          </a:p>
        </p:txBody>
      </p:sp>
      <p:sp>
        <p:nvSpPr>
          <p:cNvPr id="3" name="Content Placeholder 2"/>
          <p:cNvSpPr>
            <a:spLocks noGrp="1"/>
          </p:cNvSpPr>
          <p:nvPr>
            <p:ph idx="1"/>
          </p:nvPr>
        </p:nvSpPr>
        <p:spPr>
          <a:xfrm>
            <a:off x="1870755" y="226423"/>
            <a:ext cx="9911942" cy="6396446"/>
          </a:xfrm>
        </p:spPr>
        <p:txBody>
          <a:bodyPr>
            <a:normAutofit lnSpcReduction="10000"/>
          </a:bodyPr>
          <a:lstStyle/>
          <a:p>
            <a:pPr>
              <a:buFont typeface="Wingdings" panose="05000000000000000000" pitchFamily="2" charset="2"/>
              <a:buChar char="v"/>
            </a:pPr>
            <a:r>
              <a:rPr lang="en-US" b="1" i="1" dirty="0"/>
              <a:t>Continuous Feedback and </a:t>
            </a:r>
            <a:r>
              <a:rPr lang="en-US" b="1" i="1" dirty="0" smtClean="0"/>
              <a:t>Iteration:- </a:t>
            </a:r>
            <a:r>
              <a:rPr lang="en-US" dirty="0"/>
              <a:t>Data-driven choices are not one-time events; they require constant monitoring to evaluate their real-world impact</a:t>
            </a:r>
            <a:r>
              <a:rPr lang="en-US" dirty="0" smtClean="0"/>
              <a:t>.</a:t>
            </a:r>
          </a:p>
          <a:p>
            <a:pPr>
              <a:buFont typeface="Wingdings" panose="05000000000000000000" pitchFamily="2" charset="2"/>
              <a:buChar char="ü"/>
            </a:pPr>
            <a:r>
              <a:rPr lang="en-US" b="1" dirty="0"/>
              <a:t>Closed-Loop Analytics:</a:t>
            </a:r>
            <a:r>
              <a:rPr lang="en-US" dirty="0"/>
              <a:t> Tracking post-decision outcomes against initial projections to see if the chosen strategy worked</a:t>
            </a:r>
            <a:r>
              <a:rPr lang="en-US" dirty="0" smtClean="0"/>
              <a:t>.</a:t>
            </a:r>
          </a:p>
          <a:p>
            <a:pPr>
              <a:buFont typeface="Wingdings" panose="05000000000000000000" pitchFamily="2" charset="2"/>
              <a:buChar char="ü"/>
            </a:pPr>
            <a:r>
              <a:rPr lang="en-US" b="1" dirty="0"/>
              <a:t>Dynamic Pivoting:</a:t>
            </a:r>
            <a:r>
              <a:rPr lang="en-US" dirty="0"/>
              <a:t> Using real-time automated alerts to shift operational strategies immediately when market conditions or consumer behaviors change.</a:t>
            </a:r>
            <a:r>
              <a:rPr lang="en-US" dirty="0"/>
              <a:t> </a:t>
            </a:r>
          </a:p>
          <a:p>
            <a:pPr>
              <a:buFont typeface="Wingdings" panose="05000000000000000000" pitchFamily="2" charset="2"/>
              <a:buChar char="ü"/>
            </a:pPr>
            <a:endParaRPr lang="en-US" dirty="0" smtClean="0"/>
          </a:p>
          <a:p>
            <a:pPr>
              <a:buFont typeface="Wingdings" panose="05000000000000000000" pitchFamily="2" charset="2"/>
              <a:buChar char="q"/>
            </a:pPr>
            <a:r>
              <a:rPr lang="en-US" i="1" dirty="0" smtClean="0"/>
              <a:t>Benefits of Using Data for Decisions</a:t>
            </a:r>
          </a:p>
          <a:p>
            <a:pPr marL="0" indent="0">
              <a:buNone/>
            </a:pPr>
            <a:r>
              <a:rPr lang="en-US" dirty="0"/>
              <a:t>Using data to drive decisions </a:t>
            </a:r>
            <a:r>
              <a:rPr lang="en-US" dirty="0"/>
              <a:t>removes guesswork and directly impacts an organization's financial health, efficiency, and market </a:t>
            </a:r>
            <a:r>
              <a:rPr lang="en-US" dirty="0" smtClean="0"/>
              <a:t>position.</a:t>
            </a:r>
          </a:p>
          <a:p>
            <a:pPr>
              <a:buFont typeface="Wingdings" panose="05000000000000000000" pitchFamily="2" charset="2"/>
              <a:buChar char="§"/>
            </a:pPr>
            <a:r>
              <a:rPr lang="en-US" b="1" dirty="0"/>
              <a:t>Increased Profitability:</a:t>
            </a:r>
            <a:r>
              <a:rPr lang="en-US" dirty="0"/>
              <a:t> Studies consistently show that data-driven companies achieve significantly higher revenue growth and return on investment (ROI) than their competitors</a:t>
            </a:r>
            <a:r>
              <a:rPr lang="en-US" dirty="0" smtClean="0"/>
              <a:t>.</a:t>
            </a:r>
          </a:p>
          <a:p>
            <a:pPr>
              <a:buFont typeface="Wingdings" panose="05000000000000000000" pitchFamily="2" charset="2"/>
              <a:buChar char="§"/>
            </a:pPr>
            <a:r>
              <a:rPr lang="en-US" b="1" dirty="0"/>
              <a:t>Minimized Operational Risk:</a:t>
            </a:r>
            <a:r>
              <a:rPr lang="en-US" dirty="0"/>
              <a:t> Replaces intuition with statistical probabilities, drastically reducing the chances of costly product failures or poor resource investments</a:t>
            </a:r>
            <a:r>
              <a:rPr lang="en-US" dirty="0" smtClean="0"/>
              <a:t>.</a:t>
            </a:r>
          </a:p>
          <a:p>
            <a:pPr>
              <a:buFont typeface="Wingdings" panose="05000000000000000000" pitchFamily="2" charset="2"/>
              <a:buChar char="§"/>
            </a:pPr>
            <a:r>
              <a:rPr lang="en-US" b="1" dirty="0"/>
              <a:t>Faster Decision-Making:</a:t>
            </a:r>
            <a:r>
              <a:rPr lang="en-US" dirty="0"/>
              <a:t> Live data dashboards give executives the speed to pivot instantly, capturing market opportunities before competitors can react</a:t>
            </a:r>
            <a:r>
              <a:rPr lang="en-US" dirty="0" smtClean="0"/>
              <a:t>.</a:t>
            </a:r>
          </a:p>
          <a:p>
            <a:pPr>
              <a:buFont typeface="Wingdings" panose="05000000000000000000" pitchFamily="2" charset="2"/>
              <a:buChar char="§"/>
            </a:pPr>
            <a:r>
              <a:rPr lang="en-US" b="1" dirty="0"/>
              <a:t>Hyper-Personalized Customer Experience:</a:t>
            </a:r>
            <a:r>
              <a:rPr lang="en-US" dirty="0"/>
              <a:t> Analyzing customer behavior patterns allows businesses to deliver targeted products, boosting client retention and loyalty.</a:t>
            </a:r>
          </a:p>
        </p:txBody>
      </p:sp>
    </p:spTree>
    <p:extLst>
      <p:ext uri="{BB962C8B-B14F-4D97-AF65-F5344CB8AC3E}">
        <p14:creationId xmlns:p14="http://schemas.microsoft.com/office/powerpoint/2010/main" val="965502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4102" y="-1280890"/>
            <a:ext cx="8911687" cy="1280890"/>
          </a:xfrm>
        </p:spPr>
        <p:txBody>
          <a:bodyPr/>
          <a:lstStyle/>
          <a:p>
            <a:endParaRPr lang="en-US" dirty="0"/>
          </a:p>
        </p:txBody>
      </p:sp>
      <p:sp>
        <p:nvSpPr>
          <p:cNvPr id="3" name="Content Placeholder 2"/>
          <p:cNvSpPr>
            <a:spLocks noGrp="1"/>
          </p:cNvSpPr>
          <p:nvPr>
            <p:ph idx="1"/>
          </p:nvPr>
        </p:nvSpPr>
        <p:spPr>
          <a:xfrm>
            <a:off x="1580606" y="252548"/>
            <a:ext cx="10437223" cy="6605452"/>
          </a:xfrm>
        </p:spPr>
        <p:txBody>
          <a:bodyPr>
            <a:normAutofit lnSpcReduction="10000"/>
          </a:bodyPr>
          <a:lstStyle/>
          <a:p>
            <a:pPr>
              <a:buFont typeface="Wingdings" panose="05000000000000000000" pitchFamily="2" charset="2"/>
              <a:buChar char="§"/>
            </a:pPr>
            <a:r>
              <a:rPr lang="en-US" b="1" dirty="0"/>
              <a:t>Optimized Resource Allocation:</a:t>
            </a:r>
            <a:r>
              <a:rPr lang="en-US" dirty="0"/>
              <a:t> Identifies operational bottlenecks and wasteful spending, ensuring capital and talent are deployed only where they generate maximum value</a:t>
            </a:r>
            <a:r>
              <a:rPr lang="en-US" dirty="0" smtClean="0"/>
              <a:t>.</a:t>
            </a:r>
          </a:p>
          <a:p>
            <a:pPr>
              <a:buFont typeface="Wingdings" panose="05000000000000000000" pitchFamily="2" charset="2"/>
              <a:buChar char="§"/>
            </a:pPr>
            <a:r>
              <a:rPr lang="en-US" b="1" dirty="0"/>
              <a:t>Unbiased Corporate Culture:</a:t>
            </a:r>
            <a:r>
              <a:rPr lang="en-US" dirty="0"/>
              <a:t> Shifts company dynamics away from "the loudest </a:t>
            </a:r>
            <a:r>
              <a:rPr lang="en-US" dirty="0" smtClean="0"/>
              <a:t>voice </a:t>
            </a:r>
            <a:r>
              <a:rPr lang="en-US" dirty="0"/>
              <a:t>in the room" toward objective, factual evidence, improving team alignment</a:t>
            </a:r>
            <a:r>
              <a:rPr lang="en-US" dirty="0" smtClean="0"/>
              <a:t>.</a:t>
            </a:r>
          </a:p>
          <a:p>
            <a:pPr>
              <a:buFont typeface="Wingdings" panose="05000000000000000000" pitchFamily="2" charset="2"/>
              <a:buChar char="§"/>
            </a:pPr>
            <a:endParaRPr lang="en-US" dirty="0"/>
          </a:p>
          <a:p>
            <a:pPr>
              <a:buFont typeface="Wingdings" panose="05000000000000000000" pitchFamily="2" charset="2"/>
              <a:buChar char="q"/>
            </a:pPr>
            <a:r>
              <a:rPr lang="en-US" i="1" dirty="0" smtClean="0"/>
              <a:t>Steps in the Data-Driven Decision Process</a:t>
            </a:r>
          </a:p>
          <a:p>
            <a:pPr marL="0" indent="0">
              <a:buNone/>
            </a:pPr>
            <a:r>
              <a:rPr lang="en-US" dirty="0"/>
              <a:t>The data-driven decision-making (DDDM) process follows a structured, cyclical framework to convert raw organizational data into measurable business </a:t>
            </a:r>
            <a:r>
              <a:rPr lang="en-US" dirty="0" smtClean="0"/>
              <a:t>value.</a:t>
            </a:r>
          </a:p>
          <a:p>
            <a:pPr>
              <a:buFont typeface="+mj-lt"/>
              <a:buAutoNum type="arabicPeriod"/>
            </a:pPr>
            <a:r>
              <a:rPr lang="en-US" b="1" i="1" dirty="0"/>
              <a:t>Define the Business </a:t>
            </a:r>
            <a:r>
              <a:rPr lang="en-US" b="1" i="1" dirty="0" smtClean="0"/>
              <a:t>Question:</a:t>
            </a:r>
            <a:r>
              <a:rPr lang="en-US" dirty="0"/>
              <a:t> Before looking at any data, clearly identify the specific problem you need to solve or the goal you want to achieve</a:t>
            </a:r>
            <a:r>
              <a:rPr lang="en-US" dirty="0" smtClean="0"/>
              <a:t>.</a:t>
            </a:r>
          </a:p>
          <a:p>
            <a:pPr>
              <a:buFont typeface="+mj-lt"/>
              <a:buAutoNum type="arabicPeriod"/>
            </a:pPr>
            <a:r>
              <a:rPr lang="en-US" b="1" i="1" dirty="0"/>
              <a:t>Identify and Gather Relevant </a:t>
            </a:r>
            <a:r>
              <a:rPr lang="en-US" b="1" i="1" dirty="0" smtClean="0"/>
              <a:t>Data: </a:t>
            </a:r>
            <a:r>
              <a:rPr lang="en-US" dirty="0"/>
              <a:t>Locate and collect the internal and external data sources needed to answer the question defined in step one</a:t>
            </a:r>
            <a:r>
              <a:rPr lang="en-US" dirty="0" smtClean="0"/>
              <a:t>.</a:t>
            </a:r>
          </a:p>
          <a:p>
            <a:pPr>
              <a:buFont typeface="+mj-lt"/>
              <a:buAutoNum type="arabicPeriod"/>
            </a:pPr>
            <a:r>
              <a:rPr lang="en-US" b="1" i="1" dirty="0"/>
              <a:t>Clean and Organize the </a:t>
            </a:r>
            <a:r>
              <a:rPr lang="en-US" b="1" i="1" dirty="0" smtClean="0"/>
              <a:t>Data: </a:t>
            </a:r>
            <a:r>
              <a:rPr lang="en-US" dirty="0"/>
              <a:t>Raw data is often messy, duplicated, or incomplete. It must be prepared to ensure analysis accuracy</a:t>
            </a:r>
            <a:r>
              <a:rPr lang="en-US" dirty="0" smtClean="0"/>
              <a:t>.</a:t>
            </a:r>
          </a:p>
          <a:p>
            <a:pPr>
              <a:buFont typeface="+mj-lt"/>
              <a:buAutoNum type="arabicPeriod"/>
            </a:pPr>
            <a:r>
              <a:rPr lang="en-US" b="1" i="1" dirty="0"/>
              <a:t>Analyze and Interpret the </a:t>
            </a:r>
            <a:r>
              <a:rPr lang="en-US" b="1" i="1" dirty="0" smtClean="0"/>
              <a:t>Data:</a:t>
            </a:r>
            <a:r>
              <a:rPr lang="en-US" dirty="0"/>
              <a:t> Explore the processed data to uncover trends, anomalies, correlations, and root causes</a:t>
            </a:r>
            <a:r>
              <a:rPr lang="en-US" dirty="0" smtClean="0"/>
              <a:t>.</a:t>
            </a:r>
          </a:p>
          <a:p>
            <a:pPr>
              <a:buFont typeface="+mj-lt"/>
              <a:buAutoNum type="arabicPeriod"/>
            </a:pPr>
            <a:r>
              <a:rPr lang="en-US" b="1" i="1" dirty="0"/>
              <a:t>Draw Conclusions and Make the </a:t>
            </a:r>
            <a:r>
              <a:rPr lang="en-US" b="1" i="1" dirty="0" smtClean="0"/>
              <a:t>Decision: </a:t>
            </a:r>
            <a:r>
              <a:rPr lang="en-US" dirty="0"/>
              <a:t>Translate the data insights into a clear operational strategy or business choice</a:t>
            </a:r>
            <a:r>
              <a:rPr lang="en-US" dirty="0" smtClean="0"/>
              <a:t>.</a:t>
            </a:r>
          </a:p>
          <a:p>
            <a:pPr>
              <a:buFont typeface="+mj-lt"/>
              <a:buAutoNum type="arabicPeriod"/>
            </a:pPr>
            <a:r>
              <a:rPr lang="en-US" b="1" i="1" dirty="0"/>
              <a:t>Implement and Monitor the </a:t>
            </a:r>
            <a:r>
              <a:rPr lang="en-US" b="1" i="1" dirty="0" smtClean="0"/>
              <a:t>Outcome:</a:t>
            </a:r>
            <a:r>
              <a:rPr lang="en-US" dirty="0"/>
              <a:t> Execute the decision and continuously track the results against your initial baseline to measure success.</a:t>
            </a:r>
            <a:endParaRPr lang="en-US" b="1" i="1" dirty="0" smtClean="0"/>
          </a:p>
          <a:p>
            <a:pPr>
              <a:buFont typeface="Wingdings" panose="05000000000000000000" pitchFamily="2" charset="2"/>
              <a:buChar char="§"/>
            </a:pPr>
            <a:endParaRPr lang="en-US" b="1" i="1" dirty="0"/>
          </a:p>
        </p:txBody>
      </p:sp>
    </p:spTree>
    <p:extLst>
      <p:ext uri="{BB962C8B-B14F-4D97-AF65-F5344CB8AC3E}">
        <p14:creationId xmlns:p14="http://schemas.microsoft.com/office/powerpoint/2010/main" val="1597435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7165" y="-1280890"/>
            <a:ext cx="8911687" cy="1280890"/>
          </a:xfrm>
        </p:spPr>
        <p:txBody>
          <a:bodyPr/>
          <a:lstStyle/>
          <a:p>
            <a:endParaRPr lang="en-US" dirty="0"/>
          </a:p>
        </p:txBody>
      </p:sp>
      <p:sp>
        <p:nvSpPr>
          <p:cNvPr id="3" name="Content Placeholder 2"/>
          <p:cNvSpPr>
            <a:spLocks noGrp="1"/>
          </p:cNvSpPr>
          <p:nvPr>
            <p:ph idx="1"/>
          </p:nvPr>
        </p:nvSpPr>
        <p:spPr>
          <a:xfrm>
            <a:off x="1700937" y="265612"/>
            <a:ext cx="10238513" cy="6344194"/>
          </a:xfrm>
        </p:spPr>
        <p:txBody>
          <a:bodyPr/>
          <a:lstStyle/>
          <a:p>
            <a:pPr>
              <a:buFont typeface="Wingdings" panose="05000000000000000000" pitchFamily="2" charset="2"/>
              <a:buChar char="q"/>
            </a:pPr>
            <a:r>
              <a:rPr lang="en-US" i="1" dirty="0" smtClean="0"/>
              <a:t>Challenges &amp; Pitfalls in Data-Driven Approaches</a:t>
            </a:r>
          </a:p>
          <a:p>
            <a:pPr marL="0" indent="0">
              <a:buNone/>
            </a:pPr>
            <a:r>
              <a:rPr lang="en-US" dirty="0"/>
              <a:t>While a data-driven approach offers massive advantages, organizations frequently stumble due to cultural, technical, and analytical traps. Recognizing these challenges helps prevent costly strategic </a:t>
            </a:r>
            <a:r>
              <a:rPr lang="en-US" dirty="0" smtClean="0"/>
              <a:t>missteps.</a:t>
            </a:r>
          </a:p>
          <a:p>
            <a:pPr>
              <a:buFont typeface="Wingdings" panose="05000000000000000000" pitchFamily="2" charset="2"/>
              <a:buChar char="v"/>
            </a:pPr>
            <a:r>
              <a:rPr lang="en-US" b="1" i="1" dirty="0"/>
              <a:t>Data Quality and Governance </a:t>
            </a:r>
            <a:r>
              <a:rPr lang="en-US" b="1" i="1" dirty="0" smtClean="0"/>
              <a:t>Issues: </a:t>
            </a:r>
            <a:r>
              <a:rPr lang="en-US" dirty="0"/>
              <a:t>Decisions based on compromised data inevitably lead to failed strategies</a:t>
            </a:r>
            <a:r>
              <a:rPr lang="en-US" dirty="0" smtClean="0"/>
              <a:t>.</a:t>
            </a:r>
          </a:p>
          <a:p>
            <a:pPr>
              <a:buFont typeface="Wingdings" panose="05000000000000000000" pitchFamily="2" charset="2"/>
              <a:buChar char="v"/>
            </a:pPr>
            <a:r>
              <a:rPr lang="en-US" b="1" i="1" dirty="0"/>
              <a:t>Analytical Overload and </a:t>
            </a:r>
            <a:r>
              <a:rPr lang="en-US" b="1" i="1" dirty="0" smtClean="0"/>
              <a:t>Misinterpretation: </a:t>
            </a:r>
            <a:r>
              <a:rPr lang="en-US" dirty="0"/>
              <a:t>Having access to data does not guarantee understanding it correctly</a:t>
            </a:r>
            <a:r>
              <a:rPr lang="en-US" dirty="0" smtClean="0"/>
              <a:t>.</a:t>
            </a:r>
          </a:p>
          <a:p>
            <a:pPr>
              <a:buFont typeface="Wingdings" panose="05000000000000000000" pitchFamily="2" charset="2"/>
              <a:buChar char="v"/>
            </a:pPr>
            <a:r>
              <a:rPr lang="en-US" b="1" i="1" dirty="0"/>
              <a:t>Cognitive and Cultural </a:t>
            </a:r>
            <a:r>
              <a:rPr lang="en-US" b="1" i="1" dirty="0" smtClean="0"/>
              <a:t>Biases: </a:t>
            </a:r>
            <a:r>
              <a:rPr lang="en-US" dirty="0"/>
              <a:t>Human biases frequently warp data interpretation to serve pre-existing agendas</a:t>
            </a:r>
            <a:r>
              <a:rPr lang="en-US" dirty="0" smtClean="0"/>
              <a:t>.</a:t>
            </a:r>
          </a:p>
          <a:p>
            <a:pPr>
              <a:buFont typeface="Wingdings" panose="05000000000000000000" pitchFamily="2" charset="2"/>
              <a:buChar char="v"/>
            </a:pPr>
            <a:r>
              <a:rPr lang="en-US" b="1" i="1" dirty="0"/>
              <a:t>Technical and Privacy </a:t>
            </a:r>
            <a:r>
              <a:rPr lang="en-US" b="1" i="1" dirty="0" smtClean="0"/>
              <a:t>Vulnerabilities: </a:t>
            </a:r>
            <a:r>
              <a:rPr lang="en-US" dirty="0"/>
              <a:t>Modern data collection carries steep compliance and security </a:t>
            </a:r>
            <a:r>
              <a:rPr lang="en-US" dirty="0" smtClean="0"/>
              <a:t>responsibilities.</a:t>
            </a:r>
          </a:p>
          <a:p>
            <a:pPr>
              <a:buFont typeface="Wingdings" panose="05000000000000000000" pitchFamily="2" charset="2"/>
              <a:buChar char="v"/>
            </a:pPr>
            <a:r>
              <a:rPr lang="en-US" b="1" i="1" dirty="0"/>
              <a:t>Ignoring Qualitative </a:t>
            </a:r>
            <a:r>
              <a:rPr lang="en-US" b="1" i="1" dirty="0" smtClean="0"/>
              <a:t>Context: </a:t>
            </a:r>
            <a:r>
              <a:rPr lang="en-US" dirty="0"/>
              <a:t>Data captures </a:t>
            </a:r>
            <a:r>
              <a:rPr lang="en-US" i="1" dirty="0"/>
              <a:t>what</a:t>
            </a:r>
            <a:r>
              <a:rPr lang="en-US" dirty="0"/>
              <a:t> is happening, but it often fails to explain </a:t>
            </a:r>
            <a:r>
              <a:rPr lang="en-US" i="1" dirty="0"/>
              <a:t>why</a:t>
            </a:r>
            <a:r>
              <a:rPr lang="en-US" dirty="0"/>
              <a:t>.</a:t>
            </a:r>
            <a:endParaRPr lang="en-US" b="1" i="1" dirty="0"/>
          </a:p>
        </p:txBody>
      </p:sp>
    </p:spTree>
    <p:extLst>
      <p:ext uri="{BB962C8B-B14F-4D97-AF65-F5344CB8AC3E}">
        <p14:creationId xmlns:p14="http://schemas.microsoft.com/office/powerpoint/2010/main" val="1181444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0857" y="-133536"/>
            <a:ext cx="8911687" cy="133536"/>
          </a:xfrm>
        </p:spPr>
        <p:txBody>
          <a:bodyPr>
            <a:normAutofit fontScale="90000"/>
          </a:bodyPr>
          <a:lstStyle/>
          <a:p>
            <a:endParaRPr lang="en-US" dirty="0"/>
          </a:p>
        </p:txBody>
      </p:sp>
      <p:sp>
        <p:nvSpPr>
          <p:cNvPr id="3" name="Content Placeholder 2"/>
          <p:cNvSpPr>
            <a:spLocks noGrp="1"/>
          </p:cNvSpPr>
          <p:nvPr>
            <p:ph idx="1"/>
          </p:nvPr>
        </p:nvSpPr>
        <p:spPr>
          <a:xfrm>
            <a:off x="1700936" y="383177"/>
            <a:ext cx="10042571" cy="6370320"/>
          </a:xfrm>
        </p:spPr>
        <p:txBody>
          <a:bodyPr/>
          <a:lstStyle/>
          <a:p>
            <a:pPr>
              <a:buFont typeface="Wingdings" panose="05000000000000000000" pitchFamily="2" charset="2"/>
              <a:buChar char="q"/>
            </a:pPr>
            <a:r>
              <a:rPr lang="en-US" i="1" dirty="0" smtClean="0"/>
              <a:t>Analysis of Business Scenarios</a:t>
            </a:r>
          </a:p>
          <a:p>
            <a:pPr marL="0" indent="0">
              <a:buNone/>
            </a:pPr>
            <a:r>
              <a:rPr lang="en-US" dirty="0"/>
              <a:t>To successfully analyze a business scenario, professional Business Analysts </a:t>
            </a:r>
            <a:r>
              <a:rPr lang="en-US" dirty="0"/>
              <a:t>evaluate real-world challenges by breaking down the </a:t>
            </a:r>
            <a:r>
              <a:rPr lang="en-US" b="1" dirty="0"/>
              <a:t>current state (As-Is)</a:t>
            </a:r>
            <a:r>
              <a:rPr lang="en-US" dirty="0"/>
              <a:t>, identifying the </a:t>
            </a:r>
            <a:r>
              <a:rPr lang="en-US" b="1" dirty="0"/>
              <a:t>root cause</a:t>
            </a:r>
            <a:r>
              <a:rPr lang="en-US" dirty="0"/>
              <a:t>, and mapping out a structured </a:t>
            </a:r>
            <a:r>
              <a:rPr lang="en-US" b="1" dirty="0"/>
              <a:t>future state (To-Be)</a:t>
            </a:r>
            <a:r>
              <a:rPr lang="en-US" dirty="0"/>
              <a:t> solution</a:t>
            </a:r>
            <a:r>
              <a:rPr lang="en-US" dirty="0" smtClean="0"/>
              <a:t>.</a:t>
            </a:r>
          </a:p>
          <a:p>
            <a:pPr>
              <a:buFont typeface="Wingdings" panose="05000000000000000000" pitchFamily="2" charset="2"/>
              <a:buChar char="v"/>
            </a:pPr>
            <a:r>
              <a:rPr lang="en-US" i="1" u="sng" dirty="0"/>
              <a:t>Scenario 1: The E-Commerce Drop in </a:t>
            </a:r>
            <a:r>
              <a:rPr lang="en-US" i="1" u="sng" dirty="0" smtClean="0"/>
              <a:t>Sales:</a:t>
            </a:r>
          </a:p>
          <a:p>
            <a:r>
              <a:rPr lang="en-US" b="1" dirty="0"/>
              <a:t>The Symptom:</a:t>
            </a:r>
            <a:r>
              <a:rPr lang="en-US" dirty="0"/>
              <a:t> An online retail store experiences a 15% drop in quarterly revenue despite an increase in website traffic</a:t>
            </a:r>
            <a:r>
              <a:rPr lang="en-US" dirty="0" smtClean="0"/>
              <a:t>.</a:t>
            </a:r>
          </a:p>
          <a:p>
            <a:r>
              <a:rPr lang="en-US" b="1" dirty="0"/>
              <a:t>The Data Analysis:</a:t>
            </a:r>
            <a:r>
              <a:rPr lang="en-US" dirty="0"/>
              <a:t> Checking server logs (raw data) and checkout funnel metrics (processed information) reveals that web traffic is high, but the shopping cart abandonment rate spikes on mobile devices</a:t>
            </a:r>
            <a:r>
              <a:rPr lang="en-US" dirty="0" smtClean="0"/>
              <a:t>.</a:t>
            </a:r>
          </a:p>
          <a:p>
            <a:r>
              <a:rPr lang="en-US" b="1" dirty="0"/>
              <a:t>The Root Cause:</a:t>
            </a:r>
            <a:r>
              <a:rPr lang="en-US" dirty="0"/>
              <a:t> A recent software update made the mobile checkout page load slowly (taking over 5 seconds), causing frustrated mobile users to abandon their purchases</a:t>
            </a:r>
            <a:r>
              <a:rPr lang="en-US" dirty="0" smtClean="0"/>
              <a:t>.</a:t>
            </a:r>
          </a:p>
          <a:p>
            <a:r>
              <a:rPr lang="en-US" dirty="0"/>
              <a:t>The Data-Driven Solution</a:t>
            </a:r>
            <a:r>
              <a:rPr lang="en-US" dirty="0" smtClean="0"/>
              <a:t>:</a:t>
            </a:r>
          </a:p>
          <a:p>
            <a:pPr marL="400050" indent="-400050">
              <a:buFont typeface="+mj-lt"/>
              <a:buAutoNum type="romanLcPeriod"/>
            </a:pPr>
            <a:r>
              <a:rPr lang="en-US" dirty="0" smtClean="0"/>
              <a:t>Roll </a:t>
            </a:r>
            <a:r>
              <a:rPr lang="en-US" dirty="0"/>
              <a:t>back or optimize the mobile checkout script</a:t>
            </a:r>
            <a:r>
              <a:rPr lang="en-US" dirty="0" smtClean="0"/>
              <a:t>.</a:t>
            </a:r>
          </a:p>
          <a:p>
            <a:pPr marL="400050" indent="-400050">
              <a:buFont typeface="+mj-lt"/>
              <a:buAutoNum type="romanLcPeriod"/>
            </a:pPr>
            <a:r>
              <a:rPr lang="en-US" dirty="0"/>
              <a:t>Implement real-time website performance monitoring</a:t>
            </a:r>
            <a:r>
              <a:rPr lang="en-US" dirty="0" smtClean="0"/>
              <a:t>.</a:t>
            </a:r>
          </a:p>
          <a:p>
            <a:pPr marL="400050" indent="-400050">
              <a:buFont typeface="+mj-lt"/>
              <a:buAutoNum type="romanLcPeriod"/>
            </a:pPr>
            <a:r>
              <a:rPr lang="en-US" dirty="0"/>
              <a:t>Set an automated IT alert to trigger if page load times exceed 2 seconds.</a:t>
            </a:r>
          </a:p>
        </p:txBody>
      </p:sp>
    </p:spTree>
    <p:extLst>
      <p:ext uri="{BB962C8B-B14F-4D97-AF65-F5344CB8AC3E}">
        <p14:creationId xmlns:p14="http://schemas.microsoft.com/office/powerpoint/2010/main" val="279066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8159" y="-1280890"/>
            <a:ext cx="8911687" cy="1280890"/>
          </a:xfrm>
        </p:spPr>
        <p:txBody>
          <a:bodyPr/>
          <a:lstStyle/>
          <a:p>
            <a:endParaRPr lang="en-US" dirty="0"/>
          </a:p>
        </p:txBody>
      </p:sp>
      <p:sp>
        <p:nvSpPr>
          <p:cNvPr id="3" name="Content Placeholder 2"/>
          <p:cNvSpPr>
            <a:spLocks noGrp="1"/>
          </p:cNvSpPr>
          <p:nvPr>
            <p:ph idx="1"/>
          </p:nvPr>
        </p:nvSpPr>
        <p:spPr>
          <a:xfrm>
            <a:off x="1766252" y="357050"/>
            <a:ext cx="10003382" cy="6252755"/>
          </a:xfrm>
        </p:spPr>
        <p:txBody>
          <a:bodyPr/>
          <a:lstStyle/>
          <a:p>
            <a:pPr>
              <a:buFont typeface="Wingdings" panose="05000000000000000000" pitchFamily="2" charset="2"/>
              <a:buChar char="v"/>
            </a:pPr>
            <a:r>
              <a:rPr lang="en-US" i="1" u="sng" dirty="0"/>
              <a:t>Scenario 2: The Disconnected Enterprise (ERP vs. CRM</a:t>
            </a:r>
            <a:r>
              <a:rPr lang="en-US" i="1" u="sng" dirty="0" smtClean="0"/>
              <a:t>):</a:t>
            </a:r>
          </a:p>
          <a:p>
            <a:r>
              <a:rPr lang="en-US" b="1" dirty="0"/>
              <a:t>The Symptom:</a:t>
            </a:r>
            <a:r>
              <a:rPr lang="en-US" dirty="0"/>
              <a:t> The sales team is closing hundreds of deals, but the logistics team is constantly delayed in shipping orders, leading to poor customer reviews</a:t>
            </a:r>
            <a:r>
              <a:rPr lang="en-US" dirty="0" smtClean="0"/>
              <a:t>.</a:t>
            </a:r>
          </a:p>
          <a:p>
            <a:r>
              <a:rPr lang="en-US" b="1" dirty="0"/>
              <a:t>The Data Analysis:</a:t>
            </a:r>
            <a:r>
              <a:rPr lang="en-US" dirty="0"/>
              <a:t> Looking into internal data sources reveals that the Sales team uses a modern CRM platform, but the Logistics team manually tracks warehouse inventory on a separate, legacy ERP system</a:t>
            </a:r>
            <a:r>
              <a:rPr lang="en-US" dirty="0" smtClean="0"/>
              <a:t>.</a:t>
            </a:r>
          </a:p>
          <a:p>
            <a:r>
              <a:rPr lang="en-US" b="1" dirty="0"/>
              <a:t>The Root Cause:</a:t>
            </a:r>
            <a:r>
              <a:rPr lang="en-US" dirty="0"/>
              <a:t> Severe </a:t>
            </a:r>
            <a:r>
              <a:rPr lang="en-US" b="1" dirty="0"/>
              <a:t>data silos</a:t>
            </a:r>
            <a:r>
              <a:rPr lang="en-US" dirty="0"/>
              <a:t>. Customer order data trapped inside the CRM takes 48 hours to be manually re-entered into the ERP system, completely blinding the warehouse to upcoming shipping demands</a:t>
            </a:r>
            <a:r>
              <a:rPr lang="en-US" dirty="0" smtClean="0"/>
              <a:t>.</a:t>
            </a:r>
          </a:p>
          <a:p>
            <a:r>
              <a:rPr lang="en-US" dirty="0"/>
              <a:t>The Solution</a:t>
            </a:r>
            <a:r>
              <a:rPr lang="en-US" dirty="0" smtClean="0"/>
              <a:t>:</a:t>
            </a:r>
          </a:p>
          <a:p>
            <a:pPr marL="400050" indent="-400050">
              <a:buFont typeface="+mj-lt"/>
              <a:buAutoNum type="romanLcPeriod"/>
            </a:pPr>
            <a:r>
              <a:rPr lang="en-US" dirty="0"/>
              <a:t>Build an API integration to link the CRM and ERP systems</a:t>
            </a:r>
            <a:r>
              <a:rPr lang="en-US" dirty="0" smtClean="0"/>
              <a:t>.</a:t>
            </a:r>
          </a:p>
          <a:p>
            <a:pPr marL="400050" indent="-400050">
              <a:buFont typeface="+mj-lt"/>
              <a:buAutoNum type="romanLcPeriod"/>
            </a:pPr>
            <a:r>
              <a:rPr lang="en-US" dirty="0"/>
              <a:t>Automate the data lifecycle so closing a deal instantly reserves inventory and prints a shipping label in the warehouse.</a:t>
            </a:r>
          </a:p>
        </p:txBody>
      </p:sp>
    </p:spTree>
    <p:extLst>
      <p:ext uri="{BB962C8B-B14F-4D97-AF65-F5344CB8AC3E}">
        <p14:creationId xmlns:p14="http://schemas.microsoft.com/office/powerpoint/2010/main" val="3453221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656" y="-1280890"/>
            <a:ext cx="8911687" cy="1280890"/>
          </a:xfrm>
        </p:spPr>
        <p:txBody>
          <a:bodyPr/>
          <a:lstStyle/>
          <a:p>
            <a:endParaRPr lang="en-US" dirty="0"/>
          </a:p>
        </p:txBody>
      </p:sp>
      <p:sp>
        <p:nvSpPr>
          <p:cNvPr id="3" name="Content Placeholder 2"/>
          <p:cNvSpPr>
            <a:spLocks noGrp="1"/>
          </p:cNvSpPr>
          <p:nvPr>
            <p:ph idx="1"/>
          </p:nvPr>
        </p:nvSpPr>
        <p:spPr>
          <a:xfrm>
            <a:off x="1753188" y="330925"/>
            <a:ext cx="9951131" cy="6305006"/>
          </a:xfrm>
        </p:spPr>
        <p:txBody>
          <a:bodyPr/>
          <a:lstStyle/>
          <a:p>
            <a:pPr>
              <a:buFont typeface="Wingdings" panose="05000000000000000000" pitchFamily="2" charset="2"/>
              <a:buChar char="q"/>
            </a:pPr>
            <a:r>
              <a:rPr lang="en-US" i="1" dirty="0" smtClean="0"/>
              <a:t>What is Data Governance?</a:t>
            </a:r>
          </a:p>
          <a:p>
            <a:pPr marL="0" indent="0">
              <a:buNone/>
            </a:pPr>
            <a:r>
              <a:rPr lang="en-US" b="1" dirty="0"/>
              <a:t>Data governance</a:t>
            </a:r>
            <a:r>
              <a:rPr lang="en-US" dirty="0"/>
              <a:t> is a structured collection of rules, policies, processes, and responsibilities that defines how an organization ensures its data assets are accurate, secure, usable, and legally compliant</a:t>
            </a:r>
            <a:r>
              <a:rPr lang="en-US" dirty="0" smtClean="0"/>
              <a:t>.</a:t>
            </a:r>
          </a:p>
          <a:p>
            <a:pPr marL="0" indent="0">
              <a:buNone/>
            </a:pPr>
            <a:r>
              <a:rPr lang="en-US" dirty="0"/>
              <a:t>It establishes </a:t>
            </a:r>
            <a:r>
              <a:rPr lang="en-US" b="1" dirty="0"/>
              <a:t>who</a:t>
            </a:r>
            <a:r>
              <a:rPr lang="en-US" dirty="0"/>
              <a:t> within the company owns the data, </a:t>
            </a:r>
            <a:r>
              <a:rPr lang="en-US" b="1" dirty="0"/>
              <a:t>who</a:t>
            </a:r>
            <a:r>
              <a:rPr lang="en-US" dirty="0"/>
              <a:t> has access to it, and </a:t>
            </a:r>
            <a:r>
              <a:rPr lang="en-US" b="1" dirty="0"/>
              <a:t>how</a:t>
            </a:r>
            <a:r>
              <a:rPr lang="en-US" dirty="0"/>
              <a:t> it must be handled throughout its lifecycle</a:t>
            </a:r>
            <a:r>
              <a:rPr lang="en-US" dirty="0" smtClean="0"/>
              <a:t>.</a:t>
            </a:r>
          </a:p>
          <a:p>
            <a:pPr>
              <a:buFont typeface="Wingdings" panose="05000000000000000000" pitchFamily="2" charset="2"/>
              <a:buChar char="q"/>
            </a:pPr>
            <a:r>
              <a:rPr lang="en-US" i="1" dirty="0" smtClean="0"/>
              <a:t>Policies and Procedures of Data Governance</a:t>
            </a:r>
          </a:p>
          <a:p>
            <a:pPr marL="0" indent="0">
              <a:buNone/>
            </a:pPr>
            <a:r>
              <a:rPr lang="en-US" dirty="0"/>
              <a:t>Data governance </a:t>
            </a:r>
            <a:r>
              <a:rPr lang="en-US" b="1" dirty="0"/>
              <a:t>policies</a:t>
            </a:r>
            <a:r>
              <a:rPr lang="en-US" dirty="0"/>
              <a:t> define the high-level corporate rules regarding data, while </a:t>
            </a:r>
            <a:r>
              <a:rPr lang="en-US" b="1" dirty="0"/>
              <a:t>procedures</a:t>
            </a:r>
            <a:r>
              <a:rPr lang="en-US" dirty="0"/>
              <a:t> outline the exact operational steps employees must follow to enforce those rules. Together, they transform data governance from an abstract strategic concept into predictable, everyday business habits</a:t>
            </a:r>
            <a:r>
              <a:rPr lang="en-US" dirty="0" smtClean="0"/>
              <a:t>.</a:t>
            </a:r>
          </a:p>
          <a:p>
            <a:pPr>
              <a:buFont typeface="Wingdings" panose="05000000000000000000" pitchFamily="2" charset="2"/>
              <a:buChar char="v"/>
            </a:pPr>
            <a:r>
              <a:rPr lang="en-US" b="1" u="sng" dirty="0"/>
              <a:t>Core Data Governance </a:t>
            </a:r>
            <a:r>
              <a:rPr lang="en-US" b="1" u="sng" dirty="0" smtClean="0"/>
              <a:t>Policies:- </a:t>
            </a:r>
            <a:r>
              <a:rPr lang="en-US" dirty="0"/>
              <a:t>Policies establish the strict regulatory, security, and operational boundaries for corporate data assets</a:t>
            </a:r>
            <a:r>
              <a:rPr lang="en-US" dirty="0" smtClean="0"/>
              <a:t>.</a:t>
            </a:r>
          </a:p>
          <a:p>
            <a:pPr>
              <a:buFont typeface="Wingdings" panose="05000000000000000000" pitchFamily="2" charset="2"/>
              <a:buChar char="ü"/>
            </a:pPr>
            <a:r>
              <a:rPr lang="en-US" b="1" dirty="0"/>
              <a:t>Data Classification Policy:</a:t>
            </a:r>
            <a:r>
              <a:rPr lang="en-US" dirty="0"/>
              <a:t> Categorizes all corporate data based on sensitivity (e.g., Public, Internal Only, Confidential, Highly Restrictive) to determine security protocols.</a:t>
            </a:r>
            <a:r>
              <a:rPr lang="en-US" dirty="0"/>
              <a:t> </a:t>
            </a:r>
          </a:p>
          <a:p>
            <a:pPr>
              <a:buFont typeface="Wingdings" panose="05000000000000000000" pitchFamily="2" charset="2"/>
              <a:buChar char="ü"/>
            </a:pPr>
            <a:r>
              <a:rPr lang="en-US" b="1" dirty="0"/>
              <a:t>Data Retention and Disposal Policy:</a:t>
            </a:r>
            <a:r>
              <a:rPr lang="en-US" dirty="0"/>
              <a:t> Mandates how long specific types of data must legally be kept (e.g., financial logs for 7 years) and defines secure erasure protocols for when that time expires.</a:t>
            </a:r>
            <a:endParaRPr lang="en-US" b="1" i="1" u="sng" dirty="0" smtClean="0"/>
          </a:p>
          <a:p>
            <a:pPr marL="0" indent="0">
              <a:buNone/>
            </a:pPr>
            <a:endParaRPr lang="en-US" i="1" dirty="0"/>
          </a:p>
        </p:txBody>
      </p:sp>
    </p:spTree>
    <p:extLst>
      <p:ext uri="{BB962C8B-B14F-4D97-AF65-F5344CB8AC3E}">
        <p14:creationId xmlns:p14="http://schemas.microsoft.com/office/powerpoint/2010/main" val="25129415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59" y="-1280890"/>
            <a:ext cx="8911687" cy="1280890"/>
          </a:xfrm>
        </p:spPr>
        <p:txBody>
          <a:bodyPr/>
          <a:lstStyle/>
          <a:p>
            <a:endParaRPr lang="en-US" dirty="0"/>
          </a:p>
        </p:txBody>
      </p:sp>
      <p:sp>
        <p:nvSpPr>
          <p:cNvPr id="3" name="Content Placeholder 2"/>
          <p:cNvSpPr>
            <a:spLocks noGrp="1"/>
          </p:cNvSpPr>
          <p:nvPr>
            <p:ph idx="1"/>
          </p:nvPr>
        </p:nvSpPr>
        <p:spPr>
          <a:xfrm>
            <a:off x="1883817" y="370114"/>
            <a:ext cx="9925005" cy="6213566"/>
          </a:xfrm>
        </p:spPr>
        <p:txBody>
          <a:bodyPr/>
          <a:lstStyle/>
          <a:p>
            <a:pPr>
              <a:buFont typeface="Wingdings" panose="05000000000000000000" pitchFamily="2" charset="2"/>
              <a:buChar char="ü"/>
            </a:pPr>
            <a:r>
              <a:rPr lang="en-US" b="1" dirty="0"/>
              <a:t>Data Access and Identity Policy:</a:t>
            </a:r>
            <a:r>
              <a:rPr lang="en-US" dirty="0"/>
              <a:t> Enforces the "Principle of Least Privilege," ensuring employees only have access to the specific data sets required to perform their current job role</a:t>
            </a:r>
            <a:r>
              <a:rPr lang="en-US" dirty="0" smtClean="0"/>
              <a:t>.</a:t>
            </a:r>
          </a:p>
          <a:p>
            <a:pPr>
              <a:buFont typeface="Wingdings" panose="05000000000000000000" pitchFamily="2" charset="2"/>
              <a:buChar char="ü"/>
            </a:pPr>
            <a:r>
              <a:rPr lang="en-US" b="1" dirty="0"/>
              <a:t>Data Privacy Policy:</a:t>
            </a:r>
            <a:r>
              <a:rPr lang="en-US" dirty="0"/>
              <a:t> Aligns all corporate data collection, processing, and sharing habits with legal frameworks like GDPR, CCPA, or </a:t>
            </a:r>
            <a:r>
              <a:rPr lang="en-US" dirty="0" smtClean="0"/>
              <a:t>HIPAA.</a:t>
            </a:r>
          </a:p>
          <a:p>
            <a:pPr>
              <a:buFont typeface="Wingdings" panose="05000000000000000000" pitchFamily="2" charset="2"/>
              <a:buChar char="v"/>
            </a:pPr>
            <a:r>
              <a:rPr lang="en-US" b="1" u="sng" dirty="0"/>
              <a:t>Standard Data Governance </a:t>
            </a:r>
            <a:r>
              <a:rPr lang="en-US" b="1" u="sng" dirty="0" smtClean="0"/>
              <a:t>Procedures:- </a:t>
            </a:r>
            <a:r>
              <a:rPr lang="en-US" dirty="0"/>
              <a:t>Procedures are step-by-step instruction guides that translate corporate policies into tactical reality</a:t>
            </a:r>
            <a:r>
              <a:rPr lang="en-US" dirty="0" smtClean="0"/>
              <a:t>.</a:t>
            </a:r>
          </a:p>
          <a:p>
            <a:pPr>
              <a:buFont typeface="Wingdings" panose="05000000000000000000" pitchFamily="2" charset="2"/>
              <a:buChar char="ü"/>
            </a:pPr>
            <a:r>
              <a:rPr lang="en-US" i="1" u="sng" dirty="0"/>
              <a:t>Data Quality Remediation </a:t>
            </a:r>
            <a:r>
              <a:rPr lang="en-US" i="1" u="sng" dirty="0" smtClean="0"/>
              <a:t>Procedure: </a:t>
            </a:r>
            <a:r>
              <a:rPr lang="en-US" dirty="0"/>
              <a:t>A structured sequence to fix errors whenever compromised data is flagged in the </a:t>
            </a:r>
            <a:r>
              <a:rPr lang="en-US" dirty="0" smtClean="0"/>
              <a:t>system.</a:t>
            </a:r>
          </a:p>
          <a:p>
            <a:pPr>
              <a:buFont typeface="Arial" panose="020B0604020202020204" pitchFamily="34" charset="0"/>
              <a:buChar char="•"/>
            </a:pPr>
            <a:r>
              <a:rPr lang="en-US" b="1" dirty="0"/>
              <a:t>Step 1:</a:t>
            </a:r>
            <a:r>
              <a:rPr lang="en-US" dirty="0"/>
              <a:t> The system or data steward detects a data quality anomaly (e.g., duplicate customer entries</a:t>
            </a:r>
            <a:r>
              <a:rPr lang="en-US" dirty="0" smtClean="0"/>
              <a:t>).</a:t>
            </a:r>
          </a:p>
          <a:p>
            <a:pPr>
              <a:buFont typeface="Arial" panose="020B0604020202020204" pitchFamily="34" charset="0"/>
              <a:buChar char="•"/>
            </a:pPr>
            <a:r>
              <a:rPr lang="en-US" b="1" dirty="0"/>
              <a:t>Step 2:</a:t>
            </a:r>
            <a:r>
              <a:rPr lang="en-US" dirty="0"/>
              <a:t> Log the issue in a centralized data quality tracking system</a:t>
            </a:r>
            <a:r>
              <a:rPr lang="en-US" dirty="0" smtClean="0"/>
              <a:t>.</a:t>
            </a:r>
          </a:p>
          <a:p>
            <a:pPr>
              <a:buFont typeface="Arial" panose="020B0604020202020204" pitchFamily="34" charset="0"/>
              <a:buChar char="•"/>
            </a:pPr>
            <a:r>
              <a:rPr lang="en-US" b="1" dirty="0"/>
              <a:t>Step 3:</a:t>
            </a:r>
            <a:r>
              <a:rPr lang="en-US" dirty="0"/>
              <a:t> Trace the data back to its origin source to locate the entry bug</a:t>
            </a:r>
            <a:r>
              <a:rPr lang="en-US" dirty="0" smtClean="0"/>
              <a:t>.</a:t>
            </a:r>
          </a:p>
          <a:p>
            <a:pPr>
              <a:buFont typeface="Arial" panose="020B0604020202020204" pitchFamily="34" charset="0"/>
              <a:buChar char="•"/>
            </a:pPr>
            <a:r>
              <a:rPr lang="en-US" b="1" dirty="0"/>
              <a:t>Step 4:</a:t>
            </a:r>
            <a:r>
              <a:rPr lang="en-US" dirty="0"/>
              <a:t> Manually or algorithmically merge, clean, or repair the incorrect records</a:t>
            </a:r>
            <a:r>
              <a:rPr lang="en-US" dirty="0" smtClean="0"/>
              <a:t>.</a:t>
            </a:r>
          </a:p>
          <a:p>
            <a:pPr>
              <a:buFont typeface="Arial" panose="020B0604020202020204" pitchFamily="34" charset="0"/>
              <a:buChar char="•"/>
            </a:pPr>
            <a:r>
              <a:rPr lang="en-US" b="1" dirty="0"/>
              <a:t>Step 5:</a:t>
            </a:r>
            <a:r>
              <a:rPr lang="en-US" dirty="0"/>
              <a:t> Update system validation constraints to prevent the exact error from reoccurring.</a:t>
            </a:r>
            <a:endParaRPr lang="en-US" b="1" i="1" u="sng" dirty="0"/>
          </a:p>
        </p:txBody>
      </p:sp>
    </p:spTree>
    <p:extLst>
      <p:ext uri="{BB962C8B-B14F-4D97-AF65-F5344CB8AC3E}">
        <p14:creationId xmlns:p14="http://schemas.microsoft.com/office/powerpoint/2010/main" val="109529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4285" y="-1280890"/>
            <a:ext cx="8911687" cy="1280890"/>
          </a:xfrm>
        </p:spPr>
        <p:txBody>
          <a:bodyPr/>
          <a:lstStyle/>
          <a:p>
            <a:endParaRPr lang="en-US" dirty="0"/>
          </a:p>
        </p:txBody>
      </p:sp>
      <p:sp>
        <p:nvSpPr>
          <p:cNvPr id="3" name="Content Placeholder 2"/>
          <p:cNvSpPr>
            <a:spLocks noGrp="1"/>
          </p:cNvSpPr>
          <p:nvPr>
            <p:ph idx="1"/>
          </p:nvPr>
        </p:nvSpPr>
        <p:spPr>
          <a:xfrm>
            <a:off x="1844628" y="383176"/>
            <a:ext cx="9885817" cy="6265817"/>
          </a:xfrm>
        </p:spPr>
        <p:txBody>
          <a:bodyPr>
            <a:normAutofit lnSpcReduction="10000"/>
          </a:bodyPr>
          <a:lstStyle/>
          <a:p>
            <a:pPr>
              <a:buFont typeface="Wingdings" panose="05000000000000000000" pitchFamily="2" charset="2"/>
              <a:buChar char="v"/>
            </a:pPr>
            <a:r>
              <a:rPr lang="en-US" i="1" u="sng" dirty="0"/>
              <a:t>Data Access Request </a:t>
            </a:r>
            <a:r>
              <a:rPr lang="en-US" i="1" u="sng" dirty="0" smtClean="0"/>
              <a:t>Procedure: </a:t>
            </a:r>
            <a:r>
              <a:rPr lang="en-US" dirty="0"/>
              <a:t>The protocol an employee must follow to gain authorization to restricted data sets</a:t>
            </a:r>
            <a:r>
              <a:rPr lang="en-US" dirty="0" smtClean="0"/>
              <a:t>.</a:t>
            </a:r>
          </a:p>
          <a:p>
            <a:pPr>
              <a:buFont typeface="Wingdings" panose="05000000000000000000" pitchFamily="2" charset="2"/>
              <a:buChar char="ü"/>
            </a:pPr>
            <a:r>
              <a:rPr lang="en-US" b="1" dirty="0"/>
              <a:t>Step 1:</a:t>
            </a:r>
            <a:r>
              <a:rPr lang="en-US" dirty="0"/>
              <a:t> Employee submits a formal digital ticket detailing exactly why they require access</a:t>
            </a:r>
            <a:r>
              <a:rPr lang="en-US" dirty="0" smtClean="0"/>
              <a:t>.</a:t>
            </a:r>
          </a:p>
          <a:p>
            <a:pPr>
              <a:buFont typeface="Wingdings" panose="05000000000000000000" pitchFamily="2" charset="2"/>
              <a:buChar char="ü"/>
            </a:pPr>
            <a:r>
              <a:rPr lang="en-US" b="1" dirty="0"/>
              <a:t>Step 2:</a:t>
            </a:r>
            <a:r>
              <a:rPr lang="en-US" dirty="0"/>
              <a:t> The automated system routes the request directly to the designated </a:t>
            </a:r>
            <a:r>
              <a:rPr lang="en-US" b="1" dirty="0"/>
              <a:t>Data Owner</a:t>
            </a:r>
            <a:r>
              <a:rPr lang="en-US" dirty="0" smtClean="0"/>
              <a:t>.</a:t>
            </a:r>
          </a:p>
          <a:p>
            <a:pPr>
              <a:buFont typeface="Wingdings" panose="05000000000000000000" pitchFamily="2" charset="2"/>
              <a:buChar char="ü"/>
            </a:pPr>
            <a:r>
              <a:rPr lang="en-US" b="1" dirty="0"/>
              <a:t>Step 3:</a:t>
            </a:r>
            <a:r>
              <a:rPr lang="en-US" dirty="0"/>
              <a:t> The Data Owner reviews the request against security policies and grants or denies access</a:t>
            </a:r>
            <a:r>
              <a:rPr lang="en-US" dirty="0" smtClean="0"/>
              <a:t>.</a:t>
            </a:r>
          </a:p>
          <a:p>
            <a:pPr>
              <a:buFont typeface="Wingdings" panose="05000000000000000000" pitchFamily="2" charset="2"/>
              <a:buChar char="ü"/>
            </a:pPr>
            <a:r>
              <a:rPr lang="en-US" b="1" dirty="0"/>
              <a:t>Step 4:</a:t>
            </a:r>
            <a:r>
              <a:rPr lang="en-US" dirty="0"/>
              <a:t> IT configures access, and the system records the approval in an immutable security log</a:t>
            </a:r>
            <a:r>
              <a:rPr lang="en-US" dirty="0" smtClean="0"/>
              <a:t>.</a:t>
            </a:r>
          </a:p>
          <a:p>
            <a:pPr>
              <a:buFont typeface="Wingdings" panose="05000000000000000000" pitchFamily="2" charset="2"/>
              <a:buChar char="q"/>
            </a:pPr>
            <a:r>
              <a:rPr lang="en-US" i="1" dirty="0" smtClean="0"/>
              <a:t>Roles and Responsibilities</a:t>
            </a:r>
          </a:p>
          <a:p>
            <a:pPr marL="0" indent="0">
              <a:buNone/>
            </a:pPr>
            <a:r>
              <a:rPr lang="en-US" dirty="0"/>
              <a:t>A successful data governance framework requires clear accountability. Without explicitly assigned roles, data quality quickly degrades, and security risks increase. The execution of data governance is divided among executive, strategic, tactical, and operational layers</a:t>
            </a:r>
            <a:r>
              <a:rPr lang="en-US" dirty="0" smtClean="0"/>
              <a:t>.</a:t>
            </a:r>
          </a:p>
          <a:p>
            <a:r>
              <a:rPr lang="en-US" b="1" i="1" dirty="0"/>
              <a:t>Data Governance Council (Executive Layer</a:t>
            </a:r>
            <a:r>
              <a:rPr lang="en-US" b="1" i="1" dirty="0" smtClean="0"/>
              <a:t>): </a:t>
            </a:r>
            <a:r>
              <a:rPr lang="en-US" dirty="0"/>
              <a:t>The steering committee made up of senior leadership and department heads</a:t>
            </a:r>
            <a:r>
              <a:rPr lang="en-US" dirty="0" smtClean="0"/>
              <a:t>.</a:t>
            </a:r>
          </a:p>
          <a:p>
            <a:pPr>
              <a:buFont typeface="Arial" panose="020B0604020202020204" pitchFamily="34" charset="0"/>
              <a:buChar char="•"/>
            </a:pPr>
            <a:r>
              <a:rPr lang="en-US" b="1" dirty="0"/>
              <a:t>Role:</a:t>
            </a:r>
            <a:r>
              <a:rPr lang="en-US" dirty="0"/>
              <a:t> Sets the overarching vision, strategy, and funding for the data governance program.</a:t>
            </a:r>
            <a:endParaRPr lang="en-US" b="1" i="1" dirty="0"/>
          </a:p>
        </p:txBody>
      </p:sp>
    </p:spTree>
    <p:extLst>
      <p:ext uri="{BB962C8B-B14F-4D97-AF65-F5344CB8AC3E}">
        <p14:creationId xmlns:p14="http://schemas.microsoft.com/office/powerpoint/2010/main" val="2737099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474" y="-1280890"/>
            <a:ext cx="8911687" cy="1280890"/>
          </a:xfrm>
        </p:spPr>
        <p:txBody>
          <a:bodyPr/>
          <a:lstStyle/>
          <a:p>
            <a:endParaRPr lang="en-US" dirty="0"/>
          </a:p>
        </p:txBody>
      </p:sp>
      <p:sp>
        <p:nvSpPr>
          <p:cNvPr id="3" name="Content Placeholder 2"/>
          <p:cNvSpPr>
            <a:spLocks noGrp="1"/>
          </p:cNvSpPr>
          <p:nvPr>
            <p:ph idx="1"/>
          </p:nvPr>
        </p:nvSpPr>
        <p:spPr>
          <a:xfrm>
            <a:off x="1857691" y="213359"/>
            <a:ext cx="9951131" cy="6409509"/>
          </a:xfrm>
        </p:spPr>
        <p:txBody>
          <a:bodyPr/>
          <a:lstStyle/>
          <a:p>
            <a:pPr>
              <a:buFont typeface="Arial" panose="020B0604020202020204" pitchFamily="34" charset="0"/>
              <a:buChar char="•"/>
            </a:pPr>
            <a:r>
              <a:rPr lang="en-US" b="1" dirty="0"/>
              <a:t>Responsibilities</a:t>
            </a:r>
            <a:r>
              <a:rPr lang="en-US" b="1" i="1" dirty="0"/>
              <a:t>:</a:t>
            </a:r>
            <a:r>
              <a:rPr lang="en-US" dirty="0"/>
              <a:t> Approves enterprise-wide data policies and </a:t>
            </a:r>
            <a:r>
              <a:rPr lang="en-US" dirty="0" smtClean="0"/>
              <a:t>standards</a:t>
            </a:r>
            <a:r>
              <a:rPr lang="en-US" dirty="0"/>
              <a:t>, Resolves high-level data conflicts between different business departments, Measures and tracks the financial return on investment (ROI) of data initiatives</a:t>
            </a:r>
            <a:r>
              <a:rPr lang="en-US" dirty="0" smtClean="0"/>
              <a:t>.</a:t>
            </a:r>
          </a:p>
          <a:p>
            <a:r>
              <a:rPr lang="en-US" b="1" i="1" dirty="0"/>
              <a:t>Data Owners (Strategic Layer</a:t>
            </a:r>
            <a:r>
              <a:rPr lang="en-US" b="1" i="1" dirty="0" smtClean="0"/>
              <a:t>): </a:t>
            </a:r>
            <a:r>
              <a:rPr lang="en-US" dirty="0"/>
              <a:t>Senior business executives held legally and operationally accountable for data within their specific domain (e.g., VP of Finance, VP of Sales</a:t>
            </a:r>
            <a:r>
              <a:rPr lang="en-US" dirty="0" smtClean="0"/>
              <a:t>).</a:t>
            </a:r>
          </a:p>
          <a:p>
            <a:pPr>
              <a:buFont typeface="Arial" panose="020B0604020202020204" pitchFamily="34" charset="0"/>
              <a:buChar char="•"/>
            </a:pPr>
            <a:r>
              <a:rPr lang="en-US" b="1" dirty="0"/>
              <a:t>Role:</a:t>
            </a:r>
            <a:r>
              <a:rPr lang="en-US" dirty="0"/>
              <a:t> Acts as the ultimate authority for specific data </a:t>
            </a:r>
            <a:r>
              <a:rPr lang="en-US" dirty="0" smtClean="0"/>
              <a:t>assets.</a:t>
            </a:r>
          </a:p>
          <a:p>
            <a:pPr>
              <a:buFont typeface="Arial" panose="020B0604020202020204" pitchFamily="34" charset="0"/>
              <a:buChar char="•"/>
            </a:pPr>
            <a:r>
              <a:rPr lang="en-US" b="1" dirty="0"/>
              <a:t>Responsibilities</a:t>
            </a:r>
            <a:r>
              <a:rPr lang="en-US" b="1" dirty="0" smtClean="0"/>
              <a:t>: </a:t>
            </a:r>
            <a:r>
              <a:rPr lang="en-US" dirty="0"/>
              <a:t>Grants, modifies, or revokes data access privileges for employees, Defines the formal business glossary and definitions for data points in their domain, Approves the budget and tools required to fix data quality issues in their </a:t>
            </a:r>
            <a:r>
              <a:rPr lang="en-US" dirty="0" smtClean="0"/>
              <a:t>systems.</a:t>
            </a:r>
            <a:endParaRPr lang="en-US" b="1" i="1" dirty="0" smtClean="0"/>
          </a:p>
          <a:p>
            <a:endParaRPr lang="en-US" dirty="0" smtClean="0"/>
          </a:p>
          <a:p>
            <a:pPr>
              <a:buFont typeface="Wingdings" panose="05000000000000000000" pitchFamily="2" charset="2"/>
              <a:buChar char="q"/>
            </a:pPr>
            <a:r>
              <a:rPr lang="en-US" i="1" dirty="0" smtClean="0"/>
              <a:t>Principles of Data Ethics</a:t>
            </a:r>
          </a:p>
          <a:p>
            <a:pPr marL="0" indent="0">
              <a:buNone/>
            </a:pPr>
            <a:r>
              <a:rPr lang="en-US" b="1" dirty="0"/>
              <a:t>Data ethics</a:t>
            </a:r>
            <a:r>
              <a:rPr lang="en-US" dirty="0"/>
              <a:t> provides the moral framework for managing data responsibly, balancing business goals with the protection of human rights and societal values. Adopting an ethical data strategy requires adhering to six core principles</a:t>
            </a:r>
            <a:r>
              <a:rPr lang="en-US" dirty="0" smtClean="0"/>
              <a:t>.</a:t>
            </a:r>
          </a:p>
          <a:p>
            <a:pPr>
              <a:buFont typeface="Arial" panose="020B0604020202020204" pitchFamily="34" charset="0"/>
              <a:buChar char="•"/>
            </a:pPr>
            <a:r>
              <a:rPr lang="en-US" b="1" i="1" dirty="0"/>
              <a:t>Ownership and </a:t>
            </a:r>
            <a:r>
              <a:rPr lang="en-US" b="1" i="1" dirty="0" smtClean="0"/>
              <a:t>Control: </a:t>
            </a:r>
            <a:r>
              <a:rPr lang="en-US" dirty="0"/>
              <a:t>Individuals hold the primary right to control their own personal data and digital </a:t>
            </a:r>
            <a:r>
              <a:rPr lang="en-US" dirty="0" smtClean="0"/>
              <a:t>identities.</a:t>
            </a:r>
          </a:p>
          <a:p>
            <a:pPr>
              <a:buFont typeface="Arial" panose="020B0604020202020204" pitchFamily="34" charset="0"/>
              <a:buChar char="•"/>
            </a:pPr>
            <a:r>
              <a:rPr lang="en-US" b="1" i="1" dirty="0"/>
              <a:t>Informed Consent and </a:t>
            </a:r>
            <a:r>
              <a:rPr lang="en-US" b="1" i="1" dirty="0" smtClean="0"/>
              <a:t>Transparency: </a:t>
            </a:r>
            <a:r>
              <a:rPr lang="en-US" dirty="0"/>
              <a:t>Organizations must be explicitly open about what data they gather, how it is processed, and who it is shared with.</a:t>
            </a:r>
            <a:endParaRPr lang="en-US" b="1" i="1" dirty="0"/>
          </a:p>
        </p:txBody>
      </p:sp>
    </p:spTree>
    <p:extLst>
      <p:ext uri="{BB962C8B-B14F-4D97-AF65-F5344CB8AC3E}">
        <p14:creationId xmlns:p14="http://schemas.microsoft.com/office/powerpoint/2010/main" val="3137056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9600" y="-1280890"/>
            <a:ext cx="8911687" cy="1280890"/>
          </a:xfrm>
        </p:spPr>
        <p:txBody>
          <a:bodyPr/>
          <a:lstStyle/>
          <a:p>
            <a:endParaRPr lang="en-US" dirty="0"/>
          </a:p>
        </p:txBody>
      </p:sp>
      <p:sp>
        <p:nvSpPr>
          <p:cNvPr id="3" name="Content Placeholder 2"/>
          <p:cNvSpPr>
            <a:spLocks noGrp="1"/>
          </p:cNvSpPr>
          <p:nvPr>
            <p:ph idx="1"/>
          </p:nvPr>
        </p:nvSpPr>
        <p:spPr>
          <a:xfrm>
            <a:off x="1962195" y="500742"/>
            <a:ext cx="9755188" cy="6109064"/>
          </a:xfrm>
        </p:spPr>
        <p:txBody>
          <a:bodyPr/>
          <a:lstStyle/>
          <a:p>
            <a:pPr>
              <a:buFont typeface="Arial" panose="020B0604020202020204" pitchFamily="34" charset="0"/>
              <a:buChar char="•"/>
            </a:pPr>
            <a:r>
              <a:rPr lang="en-US" b="1" i="1" dirty="0"/>
              <a:t>Privacy, Security, and </a:t>
            </a:r>
            <a:r>
              <a:rPr lang="en-US" b="1" i="1" dirty="0" smtClean="0"/>
              <a:t>Confidentiality: </a:t>
            </a:r>
            <a:r>
              <a:rPr lang="en-US" dirty="0"/>
              <a:t>Protecting customer and employee data from unauthorized access or exposure is a strict moral obligation</a:t>
            </a:r>
            <a:r>
              <a:rPr lang="en-US" dirty="0" smtClean="0"/>
              <a:t>.</a:t>
            </a:r>
          </a:p>
          <a:p>
            <a:pPr>
              <a:buFont typeface="Arial" panose="020B0604020202020204" pitchFamily="34" charset="0"/>
              <a:buChar char="•"/>
            </a:pPr>
            <a:r>
              <a:rPr lang="en-US" b="1" i="1" dirty="0"/>
              <a:t>Fairness and Bias </a:t>
            </a:r>
            <a:r>
              <a:rPr lang="en-US" b="1" i="1" dirty="0" smtClean="0"/>
              <a:t>Mitigation: </a:t>
            </a:r>
            <a:r>
              <a:rPr lang="en-US" dirty="0"/>
              <a:t>Data analytics and automated systems must be intentionally designed to prevent discrimination or unfair treatment</a:t>
            </a:r>
            <a:r>
              <a:rPr lang="en-US" dirty="0" smtClean="0"/>
              <a:t>.</a:t>
            </a:r>
          </a:p>
          <a:p>
            <a:pPr>
              <a:buFont typeface="Arial" panose="020B0604020202020204" pitchFamily="34" charset="0"/>
              <a:buChar char="•"/>
            </a:pPr>
            <a:r>
              <a:rPr lang="en-US" b="1" i="1" dirty="0"/>
              <a:t>Intention and Public </a:t>
            </a:r>
            <a:r>
              <a:rPr lang="en-US" b="1" i="1" dirty="0" smtClean="0"/>
              <a:t>Good: </a:t>
            </a:r>
            <a:r>
              <a:rPr lang="en-US" dirty="0"/>
              <a:t>Data collection and analysis must aim to deliver positive value and avoid causing intentional harm to individuals</a:t>
            </a:r>
            <a:r>
              <a:rPr lang="en-US" dirty="0" smtClean="0"/>
              <a:t>.</a:t>
            </a:r>
          </a:p>
          <a:p>
            <a:pPr>
              <a:buFont typeface="Arial" panose="020B0604020202020204" pitchFamily="34" charset="0"/>
              <a:buChar char="•"/>
            </a:pPr>
            <a:r>
              <a:rPr lang="en-US" b="1" i="1" dirty="0"/>
              <a:t>Accountability and </a:t>
            </a:r>
            <a:r>
              <a:rPr lang="en-US" b="1" i="1" dirty="0" smtClean="0"/>
              <a:t>Governance: </a:t>
            </a:r>
            <a:r>
              <a:rPr lang="en-US" dirty="0"/>
              <a:t>Organizations must take full responsibility for the </a:t>
            </a:r>
            <a:r>
              <a:rPr lang="en-US" dirty="0" smtClean="0"/>
              <a:t>real-world </a:t>
            </a:r>
            <a:r>
              <a:rPr lang="en-US" dirty="0"/>
              <a:t>operational and societal outcomes of their data practices</a:t>
            </a:r>
            <a:r>
              <a:rPr lang="en-US" dirty="0" smtClean="0"/>
              <a:t>.</a:t>
            </a:r>
          </a:p>
          <a:p>
            <a:pPr>
              <a:buFont typeface="Arial" panose="020B0604020202020204" pitchFamily="34" charset="0"/>
              <a:buChar char="•"/>
            </a:pPr>
            <a:endParaRPr lang="en-US" b="1" i="1" dirty="0"/>
          </a:p>
          <a:p>
            <a:pPr>
              <a:buFont typeface="Wingdings" panose="05000000000000000000" pitchFamily="2" charset="2"/>
              <a:buChar char="q"/>
            </a:pPr>
            <a:r>
              <a:rPr lang="en-US" i="1" dirty="0" smtClean="0"/>
              <a:t>Privacy and Confidentiality</a:t>
            </a:r>
          </a:p>
          <a:p>
            <a:pPr marL="0" indent="0">
              <a:buNone/>
            </a:pPr>
            <a:r>
              <a:rPr lang="en-US" dirty="0"/>
              <a:t>While </a:t>
            </a:r>
            <a:r>
              <a:rPr lang="en-US" b="1" dirty="0"/>
              <a:t>privacy</a:t>
            </a:r>
            <a:r>
              <a:rPr lang="en-US" dirty="0"/>
              <a:t> and </a:t>
            </a:r>
            <a:r>
              <a:rPr lang="en-US" b="1" dirty="0"/>
              <a:t>confidentiality</a:t>
            </a:r>
            <a:r>
              <a:rPr lang="en-US" dirty="0"/>
              <a:t> are often used interchangeably, they represent two distinct legal, ethical, and technical concepts within data management. Privacy protects the </a:t>
            </a:r>
            <a:r>
              <a:rPr lang="en-US" i="1" dirty="0"/>
              <a:t>individual</a:t>
            </a:r>
            <a:r>
              <a:rPr lang="en-US" dirty="0"/>
              <a:t>, while confidentiality protects the </a:t>
            </a:r>
            <a:r>
              <a:rPr lang="en-US" i="1" dirty="0"/>
              <a:t>data</a:t>
            </a:r>
            <a:r>
              <a:rPr lang="en-US" dirty="0" smtClean="0"/>
              <a:t>.</a:t>
            </a:r>
          </a:p>
          <a:p>
            <a:pPr>
              <a:buFont typeface="Wingdings" panose="05000000000000000000" pitchFamily="2" charset="2"/>
              <a:buChar char="Ø"/>
            </a:pPr>
            <a:r>
              <a:rPr lang="en-US" b="1" i="1" dirty="0"/>
              <a:t>Privacy (The Right of the Individual</a:t>
            </a:r>
            <a:r>
              <a:rPr lang="en-US" b="1" i="1" dirty="0" smtClean="0"/>
              <a:t>):-</a:t>
            </a:r>
          </a:p>
          <a:p>
            <a:pPr marL="0" indent="0">
              <a:buNone/>
            </a:pPr>
            <a:r>
              <a:rPr lang="en-US" dirty="0"/>
              <a:t>Privacy refers to an individual's right to control </a:t>
            </a:r>
            <a:r>
              <a:rPr lang="en-US" b="1" dirty="0"/>
              <a:t>when, how, and to what extent</a:t>
            </a:r>
            <a:r>
              <a:rPr lang="en-US" dirty="0"/>
              <a:t> their personal information is collected, used, and shared with others. It is centered on the person and their freedom from unauthorized intrusion.</a:t>
            </a:r>
            <a:endParaRPr lang="en-US" b="1" i="1" dirty="0"/>
          </a:p>
        </p:txBody>
      </p:sp>
    </p:spTree>
    <p:extLst>
      <p:ext uri="{BB962C8B-B14F-4D97-AF65-F5344CB8AC3E}">
        <p14:creationId xmlns:p14="http://schemas.microsoft.com/office/powerpoint/2010/main" val="10134637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4468" y="-1280890"/>
            <a:ext cx="8911687" cy="1280890"/>
          </a:xfrm>
        </p:spPr>
        <p:txBody>
          <a:bodyPr/>
          <a:lstStyle/>
          <a:p>
            <a:endParaRPr lang="en-US" dirty="0"/>
          </a:p>
        </p:txBody>
      </p:sp>
      <p:sp>
        <p:nvSpPr>
          <p:cNvPr id="3" name="Content Placeholder 2"/>
          <p:cNvSpPr>
            <a:spLocks noGrp="1"/>
          </p:cNvSpPr>
          <p:nvPr>
            <p:ph idx="1"/>
          </p:nvPr>
        </p:nvSpPr>
        <p:spPr>
          <a:xfrm>
            <a:off x="1870755" y="291736"/>
            <a:ext cx="9872754" cy="6318069"/>
          </a:xfrm>
        </p:spPr>
        <p:txBody>
          <a:bodyPr/>
          <a:lstStyle/>
          <a:p>
            <a:pPr>
              <a:buFont typeface="Wingdings" panose="05000000000000000000" pitchFamily="2" charset="2"/>
              <a:buChar char="Ø"/>
            </a:pPr>
            <a:r>
              <a:rPr lang="en-US" b="1" i="1" dirty="0"/>
              <a:t>Confidentiality (The Duty of the Organization</a:t>
            </a:r>
            <a:r>
              <a:rPr lang="en-US" b="1" i="1" dirty="0" smtClean="0"/>
              <a:t>):-</a:t>
            </a:r>
          </a:p>
          <a:p>
            <a:pPr marL="0" indent="0">
              <a:buNone/>
            </a:pPr>
            <a:r>
              <a:rPr lang="en-US" dirty="0"/>
              <a:t>Confidentiality refers to the obligation of an organization or professional to </a:t>
            </a:r>
            <a:r>
              <a:rPr lang="en-US" b="1" dirty="0"/>
              <a:t>protect and secure</a:t>
            </a:r>
            <a:r>
              <a:rPr lang="en-US" dirty="0"/>
              <a:t> data once it has been collected, ensuring that it is not disclosed to unauthorized parties. It is centered on the data asset itself and the trust established between parties</a:t>
            </a:r>
            <a:r>
              <a:rPr lang="en-US" dirty="0" smtClean="0"/>
              <a:t>.</a:t>
            </a:r>
          </a:p>
          <a:p>
            <a:pPr marL="0" indent="0">
              <a:buNone/>
            </a:pPr>
            <a:endParaRPr lang="en-US" b="1" i="1" dirty="0"/>
          </a:p>
          <a:p>
            <a:pPr>
              <a:buFont typeface="Wingdings" panose="05000000000000000000" pitchFamily="2" charset="2"/>
              <a:buChar char="q"/>
            </a:pPr>
            <a:r>
              <a:rPr lang="en-US" i="1" dirty="0" smtClean="0"/>
              <a:t>Transparency and Accountability</a:t>
            </a:r>
          </a:p>
          <a:p>
            <a:pPr marL="0" indent="0">
              <a:buNone/>
            </a:pPr>
            <a:r>
              <a:rPr lang="en-US" dirty="0"/>
              <a:t>Within data governance and data ethics, </a:t>
            </a:r>
            <a:r>
              <a:rPr lang="en-US" b="1" dirty="0"/>
              <a:t>transparency</a:t>
            </a:r>
            <a:r>
              <a:rPr lang="en-US" dirty="0"/>
              <a:t> and </a:t>
            </a:r>
            <a:r>
              <a:rPr lang="en-US" b="1" dirty="0"/>
              <a:t>accountability</a:t>
            </a:r>
            <a:r>
              <a:rPr lang="en-US" dirty="0"/>
              <a:t> function as a vital check-and-balance system. Transparency ensures that data practices are visible and understandable, while accountability ensures that organizations take responsibility for the outcomes of those </a:t>
            </a:r>
            <a:r>
              <a:rPr lang="en-US" dirty="0" smtClean="0"/>
              <a:t>practices.</a:t>
            </a:r>
          </a:p>
          <a:p>
            <a:r>
              <a:rPr lang="en-US" i="1" u="sng" dirty="0"/>
              <a:t>Transparency (Openness and Clarity</a:t>
            </a:r>
            <a:r>
              <a:rPr lang="en-US" i="1" u="sng" dirty="0" smtClean="0"/>
              <a:t>): </a:t>
            </a:r>
            <a:r>
              <a:rPr lang="en-US" dirty="0"/>
              <a:t>Transparency is the practice of being completely honest, open, and clear about how data is collected, processed, shared, and utilized. It eliminates hidden data practices and builds trust with users and regulators</a:t>
            </a:r>
            <a:r>
              <a:rPr lang="en-US" dirty="0" smtClean="0"/>
              <a:t>.</a:t>
            </a:r>
          </a:p>
          <a:p>
            <a:r>
              <a:rPr lang="en-US" i="1" u="sng" dirty="0"/>
              <a:t>Accountability (Responsibility and Liability</a:t>
            </a:r>
            <a:r>
              <a:rPr lang="en-US" i="1" u="sng" dirty="0" smtClean="0"/>
              <a:t>):</a:t>
            </a:r>
            <a:r>
              <a:rPr lang="en-US" dirty="0"/>
              <a:t>Accountability means that an organization takes full ownership of its data management practices and the consequences that stem from them. It ensures that data policies are actively enforced rather than existing only on </a:t>
            </a:r>
            <a:r>
              <a:rPr lang="en-US" dirty="0" smtClean="0"/>
              <a:t>paper.</a:t>
            </a:r>
            <a:endParaRPr lang="en-US" i="1" u="sng" dirty="0"/>
          </a:p>
        </p:txBody>
      </p:sp>
    </p:spTree>
    <p:extLst>
      <p:ext uri="{BB962C8B-B14F-4D97-AF65-F5344CB8AC3E}">
        <p14:creationId xmlns:p14="http://schemas.microsoft.com/office/powerpoint/2010/main" val="31873643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5908" y="-1280890"/>
            <a:ext cx="8911687" cy="1280890"/>
          </a:xfrm>
        </p:spPr>
        <p:txBody>
          <a:bodyPr/>
          <a:lstStyle/>
          <a:p>
            <a:endParaRPr lang="en-US" dirty="0"/>
          </a:p>
        </p:txBody>
      </p:sp>
      <p:sp>
        <p:nvSpPr>
          <p:cNvPr id="3" name="Content Placeholder 2"/>
          <p:cNvSpPr>
            <a:spLocks noGrp="1"/>
          </p:cNvSpPr>
          <p:nvPr>
            <p:ph idx="1"/>
          </p:nvPr>
        </p:nvSpPr>
        <p:spPr>
          <a:xfrm>
            <a:off x="1700937" y="148044"/>
            <a:ext cx="9872754" cy="6709956"/>
          </a:xfrm>
        </p:spPr>
        <p:txBody>
          <a:bodyPr>
            <a:normAutofit lnSpcReduction="10000"/>
          </a:bodyPr>
          <a:lstStyle/>
          <a:p>
            <a:pPr>
              <a:buFont typeface="Wingdings" panose="05000000000000000000" pitchFamily="2" charset="2"/>
              <a:buChar char="q"/>
            </a:pPr>
            <a:r>
              <a:rPr lang="en-US" i="1" dirty="0" smtClean="0"/>
              <a:t>Regulatory Compliance</a:t>
            </a:r>
          </a:p>
          <a:p>
            <a:pPr marL="0" indent="0">
              <a:buNone/>
            </a:pPr>
            <a:r>
              <a:rPr lang="en-US" dirty="0"/>
              <a:t>Data privacy regulations legally enforce the ethical principles of transparency, accountability, and user control. Organizations that process personal data must strictly comply with these frameworks to avoid catastrophic financial penalties and reputational </a:t>
            </a:r>
            <a:r>
              <a:rPr lang="en-US" dirty="0" smtClean="0"/>
              <a:t>damage. </a:t>
            </a:r>
          </a:p>
          <a:p>
            <a:pPr marL="0" indent="0">
              <a:buNone/>
            </a:pPr>
            <a:r>
              <a:rPr lang="en-US" dirty="0"/>
              <a:t>The two most influential frameworks shaping modern data strategies are the </a:t>
            </a:r>
            <a:r>
              <a:rPr lang="en-US" b="1" dirty="0"/>
              <a:t>GDPR</a:t>
            </a:r>
            <a:r>
              <a:rPr lang="en-US" dirty="0"/>
              <a:t> (Europe) and the </a:t>
            </a:r>
            <a:r>
              <a:rPr lang="en-US" b="1" dirty="0"/>
              <a:t>CCPA/CPRA</a:t>
            </a:r>
            <a:r>
              <a:rPr lang="en-US" dirty="0"/>
              <a:t> (California</a:t>
            </a:r>
            <a:r>
              <a:rPr lang="en-US" dirty="0" smtClean="0"/>
              <a:t>).</a:t>
            </a:r>
          </a:p>
          <a:p>
            <a:pPr>
              <a:buFont typeface="Wingdings" panose="05000000000000000000" pitchFamily="2" charset="2"/>
              <a:buChar char="v"/>
            </a:pPr>
            <a:r>
              <a:rPr lang="en-US" b="1" i="1" dirty="0"/>
              <a:t>General Data Protection Regulation (GDPR</a:t>
            </a:r>
            <a:r>
              <a:rPr lang="en-US" b="1" i="1" dirty="0" smtClean="0"/>
              <a:t>)</a:t>
            </a:r>
          </a:p>
          <a:p>
            <a:pPr marL="0" indent="0">
              <a:buNone/>
            </a:pPr>
            <a:r>
              <a:rPr lang="en-US" dirty="0"/>
              <a:t>Enacted by the European Union, the GDPR is the world's strictest data privacy law. It protects any EU citizen, regardless of where the data-processing company is physically located</a:t>
            </a:r>
            <a:r>
              <a:rPr lang="en-US" dirty="0" smtClean="0"/>
              <a:t>.</a:t>
            </a:r>
          </a:p>
          <a:p>
            <a:pPr>
              <a:buFont typeface="Arial" panose="020B0604020202020204" pitchFamily="34" charset="0"/>
              <a:buChar char="•"/>
            </a:pPr>
            <a:r>
              <a:rPr lang="en-US" b="1" dirty="0"/>
              <a:t>Core Philosophy:</a:t>
            </a:r>
            <a:r>
              <a:rPr lang="en-US" dirty="0"/>
              <a:t> Privacy is a fundamental human right. Data collection is forbidden by default unless a legal basis (like explicit consent) is proven</a:t>
            </a:r>
            <a:r>
              <a:rPr lang="en-US" dirty="0" smtClean="0"/>
              <a:t>.</a:t>
            </a:r>
          </a:p>
          <a:p>
            <a:pPr>
              <a:buFont typeface="Arial" panose="020B0604020202020204" pitchFamily="34" charset="0"/>
              <a:buChar char="•"/>
            </a:pPr>
            <a:r>
              <a:rPr lang="en-US" b="1" dirty="0"/>
              <a:t>Opt-In Consent:</a:t>
            </a:r>
            <a:r>
              <a:rPr lang="en-US" dirty="0"/>
              <a:t> Companies must obtain active, explicit, and un-ticked consent </a:t>
            </a:r>
            <a:r>
              <a:rPr lang="en-US" i="1" dirty="0"/>
              <a:t>before</a:t>
            </a:r>
            <a:r>
              <a:rPr lang="en-US" dirty="0"/>
              <a:t> tracking or gathering user data</a:t>
            </a:r>
            <a:r>
              <a:rPr lang="en-US" dirty="0" smtClean="0"/>
              <a:t>.</a:t>
            </a:r>
          </a:p>
          <a:p>
            <a:pPr>
              <a:buFont typeface="Arial" panose="020B0604020202020204" pitchFamily="34" charset="0"/>
              <a:buChar char="•"/>
            </a:pPr>
            <a:r>
              <a:rPr lang="en-US" b="1" dirty="0"/>
              <a:t>Data </a:t>
            </a:r>
            <a:r>
              <a:rPr lang="en-US" b="1" dirty="0" err="1"/>
              <a:t>Minimisation</a:t>
            </a:r>
            <a:r>
              <a:rPr lang="en-US" b="1" dirty="0"/>
              <a:t>:</a:t>
            </a:r>
            <a:r>
              <a:rPr lang="en-US" dirty="0"/>
              <a:t> Organizations must only collect the absolute minimum amount of data required to complete a specific task</a:t>
            </a:r>
            <a:r>
              <a:rPr lang="en-US" dirty="0" smtClean="0"/>
              <a:t>.</a:t>
            </a:r>
          </a:p>
          <a:p>
            <a:pPr>
              <a:buFont typeface="Arial" panose="020B0604020202020204" pitchFamily="34" charset="0"/>
              <a:buChar char="•"/>
            </a:pPr>
            <a:r>
              <a:rPr lang="en-US" b="1" dirty="0"/>
              <a:t>Breach Notification:</a:t>
            </a:r>
            <a:r>
              <a:rPr lang="en-US" dirty="0"/>
              <a:t> Data breaches must be reported to supervisory authorities within 72 hours of discovery</a:t>
            </a:r>
            <a:r>
              <a:rPr lang="en-US" dirty="0" smtClean="0"/>
              <a:t>.</a:t>
            </a:r>
          </a:p>
          <a:p>
            <a:pPr>
              <a:buFont typeface="Arial" panose="020B0604020202020204" pitchFamily="34" charset="0"/>
              <a:buChar char="•"/>
            </a:pPr>
            <a:r>
              <a:rPr lang="en-US" b="1" dirty="0"/>
              <a:t>Maximum Penalties:</a:t>
            </a:r>
            <a:r>
              <a:rPr lang="en-US" dirty="0"/>
              <a:t> Up to €20 million or 4% of the company's global annual turnover (whichever is higher).</a:t>
            </a:r>
            <a:endParaRPr lang="en-US" b="1" i="1" dirty="0"/>
          </a:p>
        </p:txBody>
      </p:sp>
    </p:spTree>
    <p:extLst>
      <p:ext uri="{BB962C8B-B14F-4D97-AF65-F5344CB8AC3E}">
        <p14:creationId xmlns:p14="http://schemas.microsoft.com/office/powerpoint/2010/main" val="1021540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154" y="-1280890"/>
            <a:ext cx="8911687" cy="1280890"/>
          </a:xfrm>
        </p:spPr>
        <p:txBody>
          <a:bodyPr/>
          <a:lstStyle/>
          <a:p>
            <a:endParaRPr lang="en-US" dirty="0"/>
          </a:p>
        </p:txBody>
      </p:sp>
      <p:sp>
        <p:nvSpPr>
          <p:cNvPr id="3" name="Content Placeholder 2"/>
          <p:cNvSpPr>
            <a:spLocks noGrp="1"/>
          </p:cNvSpPr>
          <p:nvPr>
            <p:ph idx="1"/>
          </p:nvPr>
        </p:nvSpPr>
        <p:spPr>
          <a:xfrm>
            <a:off x="1609496" y="618308"/>
            <a:ext cx="10094823" cy="5691052"/>
          </a:xfrm>
        </p:spPr>
        <p:txBody>
          <a:bodyPr/>
          <a:lstStyle/>
          <a:p>
            <a:pPr>
              <a:buFont typeface="Wingdings" panose="05000000000000000000" pitchFamily="2" charset="2"/>
              <a:buChar char="v"/>
            </a:pPr>
            <a:r>
              <a:rPr lang="en-US" b="1" i="1" dirty="0"/>
              <a:t>California Consumer Privacy Act (CCPA / CPRA</a:t>
            </a:r>
            <a:r>
              <a:rPr lang="en-US" b="1" i="1" dirty="0" smtClean="0"/>
              <a:t>)</a:t>
            </a:r>
          </a:p>
          <a:p>
            <a:pPr marL="0" indent="0">
              <a:buNone/>
            </a:pPr>
            <a:r>
              <a:rPr lang="en-US" dirty="0"/>
              <a:t>The CCPA (enhanced by the CPRA) protects the privacy rights of California residents and serves as the baseline for emerging US state-level data privacy laws</a:t>
            </a:r>
            <a:r>
              <a:rPr lang="en-US" dirty="0" smtClean="0"/>
              <a:t>.</a:t>
            </a:r>
          </a:p>
          <a:p>
            <a:pPr>
              <a:buFont typeface="Arial" panose="020B0604020202020204" pitchFamily="34" charset="0"/>
              <a:buChar char="•"/>
            </a:pPr>
            <a:r>
              <a:rPr lang="en-US" b="1" dirty="0"/>
              <a:t>Core Philosophy:</a:t>
            </a:r>
            <a:r>
              <a:rPr lang="en-US" dirty="0"/>
              <a:t> Consumer rights and market transparency. It focuses heavily on giving consumers visibility into how their data is sold or </a:t>
            </a:r>
            <a:r>
              <a:rPr lang="en-US" dirty="0" err="1"/>
              <a:t>commercialised</a:t>
            </a:r>
            <a:r>
              <a:rPr lang="en-US" dirty="0" smtClean="0"/>
              <a:t>.</a:t>
            </a:r>
          </a:p>
          <a:p>
            <a:pPr>
              <a:buFont typeface="Arial" panose="020B0604020202020204" pitchFamily="34" charset="0"/>
              <a:buChar char="•"/>
            </a:pPr>
            <a:r>
              <a:rPr lang="en-US" b="1" dirty="0"/>
              <a:t>Opt-Out Right:</a:t>
            </a:r>
            <a:r>
              <a:rPr lang="en-US" dirty="0"/>
              <a:t> Companies can collect data by default, but they </a:t>
            </a:r>
            <a:r>
              <a:rPr lang="en-US" i="1" dirty="0"/>
              <a:t>must</a:t>
            </a:r>
            <a:r>
              <a:rPr lang="en-US" dirty="0"/>
              <a:t> provide a clear, visible link on their homepage stating: </a:t>
            </a:r>
            <a:r>
              <a:rPr lang="en-US" i="1" dirty="0"/>
              <a:t>"Do Not Sell or Share My Personal Information</a:t>
            </a:r>
            <a:r>
              <a:rPr lang="en-US" i="1" dirty="0" smtClean="0"/>
              <a:t>.”</a:t>
            </a:r>
          </a:p>
          <a:p>
            <a:pPr>
              <a:buFont typeface="Arial" panose="020B0604020202020204" pitchFamily="34" charset="0"/>
              <a:buChar char="•"/>
            </a:pPr>
            <a:r>
              <a:rPr lang="en-US" b="1" dirty="0"/>
              <a:t>Right to Limit Sensitive Data:</a:t>
            </a:r>
            <a:r>
              <a:rPr lang="en-US" dirty="0"/>
              <a:t> Consumers can restrict the use of highly private information like precise geolocation, race, or health metrics</a:t>
            </a:r>
            <a:r>
              <a:rPr lang="en-US" dirty="0" smtClean="0"/>
              <a:t>.</a:t>
            </a:r>
          </a:p>
          <a:p>
            <a:pPr>
              <a:buFont typeface="Arial" panose="020B0604020202020204" pitchFamily="34" charset="0"/>
              <a:buChar char="•"/>
            </a:pPr>
            <a:r>
              <a:rPr lang="en-US" b="1" dirty="0"/>
              <a:t>Private Right of Action:</a:t>
            </a:r>
            <a:r>
              <a:rPr lang="en-US" dirty="0"/>
              <a:t> Consumers can directly sue companies for statutory damages if their data is breached due to poor security practices</a:t>
            </a:r>
            <a:r>
              <a:rPr lang="en-US" dirty="0" smtClean="0"/>
              <a:t>.</a:t>
            </a:r>
          </a:p>
          <a:p>
            <a:pPr>
              <a:buFont typeface="Arial" panose="020B0604020202020204" pitchFamily="34" charset="0"/>
              <a:buChar char="•"/>
            </a:pPr>
            <a:r>
              <a:rPr lang="en-US" b="1" dirty="0"/>
              <a:t>Maximum Penalties:</a:t>
            </a:r>
            <a:r>
              <a:rPr lang="en-US" dirty="0"/>
              <a:t> Up to $7,500 per intentional violation (calculated per individual user record exposed</a:t>
            </a:r>
            <a:r>
              <a:rPr lang="en-US" dirty="0" smtClean="0"/>
              <a:t>).</a:t>
            </a:r>
            <a:endParaRPr lang="en-US" b="1" i="1" dirty="0"/>
          </a:p>
        </p:txBody>
      </p:sp>
    </p:spTree>
    <p:extLst>
      <p:ext uri="{BB962C8B-B14F-4D97-AF65-F5344CB8AC3E}">
        <p14:creationId xmlns:p14="http://schemas.microsoft.com/office/powerpoint/2010/main" val="30972187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4103" y="-1178564"/>
            <a:ext cx="8911687" cy="1280890"/>
          </a:xfrm>
        </p:spPr>
        <p:txBody>
          <a:bodyPr/>
          <a:lstStyle/>
          <a:p>
            <a:endParaRPr lang="en-US" dirty="0"/>
          </a:p>
        </p:txBody>
      </p:sp>
      <p:sp>
        <p:nvSpPr>
          <p:cNvPr id="3" name="Content Placeholder 2"/>
          <p:cNvSpPr>
            <a:spLocks noGrp="1"/>
          </p:cNvSpPr>
          <p:nvPr>
            <p:ph idx="1"/>
          </p:nvPr>
        </p:nvSpPr>
        <p:spPr>
          <a:xfrm>
            <a:off x="1831565" y="370114"/>
            <a:ext cx="9794377" cy="6148252"/>
          </a:xfrm>
        </p:spPr>
        <p:txBody>
          <a:bodyPr/>
          <a:lstStyle/>
          <a:p>
            <a:pPr>
              <a:buFont typeface="Wingdings" panose="05000000000000000000" pitchFamily="2" charset="2"/>
              <a:buChar char="q"/>
            </a:pPr>
            <a:r>
              <a:rPr lang="en-US" i="1" dirty="0" smtClean="0"/>
              <a:t>Building a Culture of Responsible Data Use</a:t>
            </a:r>
          </a:p>
          <a:p>
            <a:pPr marL="0" indent="0">
              <a:buNone/>
            </a:pPr>
            <a:r>
              <a:rPr lang="en-US" dirty="0"/>
              <a:t>Building a culture of responsible data use </a:t>
            </a:r>
            <a:r>
              <a:rPr lang="en-US" dirty="0"/>
              <a:t>requires transforming data ethics from a set of rigid IT rules into shared corporate values. Technology alone cannot prevent data leaks or compliance failures if employee mindsets and daily work habits remain unchanged</a:t>
            </a:r>
            <a:r>
              <a:rPr lang="en-US" dirty="0" smtClean="0"/>
              <a:t>.</a:t>
            </a:r>
          </a:p>
          <a:p>
            <a:pPr>
              <a:buFont typeface="Wingdings" panose="05000000000000000000" pitchFamily="2" charset="2"/>
              <a:buChar char="v"/>
            </a:pPr>
            <a:r>
              <a:rPr lang="en-US" b="1" i="1" dirty="0"/>
              <a:t>Secure Leadership Buy-In and </a:t>
            </a:r>
            <a:r>
              <a:rPr lang="en-US" b="1" i="1" dirty="0" smtClean="0"/>
              <a:t>Modeling</a:t>
            </a:r>
          </a:p>
          <a:p>
            <a:pPr marL="0" indent="0">
              <a:buNone/>
            </a:pPr>
            <a:r>
              <a:rPr lang="en-US" dirty="0"/>
              <a:t>A data-responsible culture begins with executive leadership prioritizing ethical data habits over shortcuts</a:t>
            </a:r>
            <a:r>
              <a:rPr lang="en-US" dirty="0" smtClean="0"/>
              <a:t>.</a:t>
            </a:r>
          </a:p>
          <a:p>
            <a:r>
              <a:rPr lang="en-US" b="1" dirty="0"/>
              <a:t>Set the Tone:</a:t>
            </a:r>
            <a:r>
              <a:rPr lang="en-US" dirty="0"/>
              <a:t> Executive leaders must openly champion data privacy in company-wide meetings and emphasize that data governance is a business driver, not a </a:t>
            </a:r>
            <a:r>
              <a:rPr lang="en-US" dirty="0" smtClean="0"/>
              <a:t>bottleneck.</a:t>
            </a:r>
          </a:p>
          <a:p>
            <a:r>
              <a:rPr lang="en-US" b="1" dirty="0"/>
              <a:t>Appoint Visible Champions:</a:t>
            </a:r>
            <a:r>
              <a:rPr lang="en-US" dirty="0"/>
              <a:t> Formally place Data Protection Officers (DPOs) or Data Owners in visible advisory roles so employees know leadership backs data </a:t>
            </a:r>
            <a:r>
              <a:rPr lang="en-US" dirty="0" smtClean="0"/>
              <a:t>oversight.</a:t>
            </a:r>
          </a:p>
          <a:p>
            <a:pPr>
              <a:buFont typeface="Wingdings" panose="05000000000000000000" pitchFamily="2" charset="2"/>
              <a:buChar char="v"/>
            </a:pPr>
            <a:r>
              <a:rPr lang="en-US" b="1" i="1" dirty="0"/>
              <a:t>Implement Continuous, Role-Based </a:t>
            </a:r>
            <a:r>
              <a:rPr lang="en-US" b="1" i="1" dirty="0" smtClean="0"/>
              <a:t>Training</a:t>
            </a:r>
          </a:p>
          <a:p>
            <a:pPr marL="0" indent="0">
              <a:buNone/>
            </a:pPr>
            <a:r>
              <a:rPr lang="en-US" dirty="0"/>
              <a:t>Generic, once-a-year compliance videos are largely ineffective. Training must be highly engaging, interactive, and tailored to specific job functions.</a:t>
            </a:r>
            <a:endParaRPr lang="en-US" b="1" i="1" dirty="0"/>
          </a:p>
        </p:txBody>
      </p:sp>
    </p:spTree>
    <p:extLst>
      <p:ext uri="{BB962C8B-B14F-4D97-AF65-F5344CB8AC3E}">
        <p14:creationId xmlns:p14="http://schemas.microsoft.com/office/powerpoint/2010/main" val="398035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8788" y="-1280890"/>
            <a:ext cx="8911687" cy="1280890"/>
          </a:xfrm>
        </p:spPr>
        <p:txBody>
          <a:bodyPr/>
          <a:lstStyle/>
          <a:p>
            <a:endParaRPr lang="en-US" dirty="0"/>
          </a:p>
        </p:txBody>
      </p:sp>
      <p:sp>
        <p:nvSpPr>
          <p:cNvPr id="3" name="Content Placeholder 2"/>
          <p:cNvSpPr>
            <a:spLocks noGrp="1"/>
          </p:cNvSpPr>
          <p:nvPr>
            <p:ph idx="1"/>
          </p:nvPr>
        </p:nvSpPr>
        <p:spPr>
          <a:xfrm>
            <a:off x="1831567" y="291736"/>
            <a:ext cx="9911942" cy="6291943"/>
          </a:xfrm>
        </p:spPr>
        <p:txBody>
          <a:bodyPr/>
          <a:lstStyle/>
          <a:p>
            <a:r>
              <a:rPr lang="en-US" b="1" dirty="0"/>
              <a:t>For Marketing and Sales:</a:t>
            </a:r>
            <a:r>
              <a:rPr lang="en-US" dirty="0"/>
              <a:t> Focus on user consent mechanics, anti-spam laws, the boundaries of tracking cookies, and respecting the "Right to Opt-Out</a:t>
            </a:r>
            <a:r>
              <a:rPr lang="en-US" dirty="0" smtClean="0"/>
              <a:t>.“</a:t>
            </a:r>
          </a:p>
          <a:p>
            <a:r>
              <a:rPr lang="en-US" b="1" dirty="0"/>
              <a:t>For HR and Operations:</a:t>
            </a:r>
            <a:r>
              <a:rPr lang="en-US" dirty="0"/>
              <a:t> Focus on protecting employee files, handling internal access tickets, and safely disposing of legacy physical or digital </a:t>
            </a:r>
            <a:r>
              <a:rPr lang="en-US" dirty="0" smtClean="0"/>
              <a:t>records.</a:t>
            </a:r>
          </a:p>
          <a:p>
            <a:r>
              <a:rPr lang="en-US" b="1" dirty="0"/>
              <a:t>For Developers and Data Engineers:</a:t>
            </a:r>
            <a:r>
              <a:rPr lang="en-US" dirty="0"/>
              <a:t> Focus on practical "Privacy by Design" principles, data minimization coding habits, and secure data-masking or encryption </a:t>
            </a:r>
            <a:r>
              <a:rPr lang="en-US" dirty="0" smtClean="0"/>
              <a:t>techniques.</a:t>
            </a:r>
          </a:p>
          <a:p>
            <a:pPr>
              <a:buFont typeface="Wingdings" panose="05000000000000000000" pitchFamily="2" charset="2"/>
              <a:buChar char="v"/>
            </a:pPr>
            <a:r>
              <a:rPr lang="en-US" b="1" i="1" dirty="0"/>
              <a:t>Establish Clear Incentives and </a:t>
            </a:r>
            <a:r>
              <a:rPr lang="en-US" b="1" i="1" dirty="0" smtClean="0"/>
              <a:t>Accountability</a:t>
            </a:r>
          </a:p>
          <a:p>
            <a:pPr marL="0" indent="0">
              <a:buNone/>
            </a:pPr>
            <a:r>
              <a:rPr lang="en-US" dirty="0"/>
              <a:t>Employees must understand both the positive impact of strong data habits and the real-world operational consequences of data negligence</a:t>
            </a:r>
            <a:r>
              <a:rPr lang="en-US" dirty="0" smtClean="0"/>
              <a:t>.</a:t>
            </a:r>
          </a:p>
          <a:p>
            <a:r>
              <a:rPr lang="en-US" b="1" dirty="0"/>
              <a:t>Reward Ethical Behavior:</a:t>
            </a:r>
            <a:r>
              <a:rPr lang="en-US" dirty="0"/>
              <a:t> Integrate data stewardship goals directly into annual performance reviews, recognizing employees who find security gaps or clean messy data silos</a:t>
            </a:r>
            <a:r>
              <a:rPr lang="en-US" dirty="0" smtClean="0"/>
              <a:t>.</a:t>
            </a:r>
          </a:p>
          <a:p>
            <a:r>
              <a:rPr lang="en-US" b="1" dirty="0"/>
              <a:t>Hold Intentional Negligence Accountable:</a:t>
            </a:r>
            <a:r>
              <a:rPr lang="en-US" dirty="0"/>
              <a:t> Make it clear that bypassing data governance policies or violating consumer privacy borders will lead to formal disciplinary action</a:t>
            </a:r>
            <a:r>
              <a:rPr lang="en-US" dirty="0" smtClean="0"/>
              <a:t>.</a:t>
            </a:r>
          </a:p>
          <a:p>
            <a:r>
              <a:rPr lang="en-US" b="1" dirty="0"/>
              <a:t>Enforce No-Blame Incident Reporting:</a:t>
            </a:r>
            <a:r>
              <a:rPr lang="en-US" dirty="0"/>
              <a:t> Encourage teams to report data slip-ups or potential security exposures immediately without fear of immediate retaliation.</a:t>
            </a:r>
            <a:endParaRPr lang="en-US" b="1" i="1" dirty="0"/>
          </a:p>
        </p:txBody>
      </p:sp>
    </p:spTree>
    <p:extLst>
      <p:ext uri="{BB962C8B-B14F-4D97-AF65-F5344CB8AC3E}">
        <p14:creationId xmlns:p14="http://schemas.microsoft.com/office/powerpoint/2010/main" val="1000044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87337" y="2967335"/>
            <a:ext cx="5551714" cy="923330"/>
          </a:xfrm>
          <a:prstGeom prst="rect">
            <a:avLst/>
          </a:prstGeom>
          <a:noFill/>
        </p:spPr>
        <p:txBody>
          <a:bodyPr wrap="square" lIns="91440" tIns="45720" rIns="91440" bIns="45720">
            <a:spAutoFit/>
          </a:bodyPr>
          <a:lstStyle/>
          <a:p>
            <a:pPr algn="ctr"/>
            <a:r>
              <a:rPr lang="en-US" sz="54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267846122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4513</TotalTime>
  <Words>6981</Words>
  <Application>Microsoft Office PowerPoint</Application>
  <PresentationFormat>Widescreen</PresentationFormat>
  <Paragraphs>367</Paragraphs>
  <Slides>44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Century Gothic</vt:lpstr>
      <vt:lpstr>Wingdings</vt:lpstr>
      <vt:lpstr>Wingdings 3</vt:lpstr>
      <vt:lpstr>Wisp</vt:lpstr>
      <vt:lpstr>Information Technology </vt:lpstr>
      <vt:lpstr>INTRODUCTION TO IT AND BUSINESS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 IT [dp]</dc:title>
  <dc:creator>Windows User</dc:creator>
  <cp:lastModifiedBy>Windows User</cp:lastModifiedBy>
  <cp:revision>64</cp:revision>
  <dcterms:created xsi:type="dcterms:W3CDTF">2026-07-21T06:47:00Z</dcterms:created>
  <dcterms:modified xsi:type="dcterms:W3CDTF">2026-07-28T02:06:49Z</dcterms:modified>
</cp:coreProperties>
</file>